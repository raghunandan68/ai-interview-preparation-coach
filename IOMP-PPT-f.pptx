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69" r:id="rId1"/>
  </p:sldMasterIdLst>
  <p:notesMasterIdLst>
    <p:notesMasterId r:id="rId20"/>
  </p:notesMasterIdLst>
  <p:sldIdLst>
    <p:sldId id="256" r:id="rId2"/>
    <p:sldId id="302" r:id="rId3"/>
    <p:sldId id="303" r:id="rId4"/>
    <p:sldId id="304" r:id="rId5"/>
    <p:sldId id="305" r:id="rId6"/>
    <p:sldId id="306" r:id="rId7"/>
    <p:sldId id="307" r:id="rId8"/>
    <p:sldId id="308" r:id="rId9"/>
    <p:sldId id="309" r:id="rId10"/>
    <p:sldId id="310" r:id="rId11"/>
    <p:sldId id="311" r:id="rId12"/>
    <p:sldId id="312" r:id="rId13"/>
    <p:sldId id="313" r:id="rId14"/>
    <p:sldId id="317" r:id="rId15"/>
    <p:sldId id="316" r:id="rId16"/>
    <p:sldId id="315" r:id="rId17"/>
    <p:sldId id="314"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7E8926-8CAA-4D83-864F-3962AD69461A}" type="datetimeFigureOut">
              <a:rPr lang="en-IN" smtClean="0"/>
              <a:t>28-01-2026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3D81F2-3907-489E-9444-5E87381946A4}" type="slidenum">
              <a:rPr lang="en-IN" smtClean="0"/>
              <a:t>‹#›</a:t>
            </a:fld>
            <a:endParaRPr lang="en-IN"/>
          </a:p>
        </p:txBody>
      </p:sp>
    </p:spTree>
    <p:extLst>
      <p:ext uri="{BB962C8B-B14F-4D97-AF65-F5344CB8AC3E}">
        <p14:creationId xmlns:p14="http://schemas.microsoft.com/office/powerpoint/2010/main" val="427121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85113-A4DD-6622-20D3-A90FE49336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F344AC8-05E7-083F-9B10-9FF32371D4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B6009D5-E0B7-3ABC-777E-4E76D333A900}"/>
              </a:ext>
            </a:extLst>
          </p:cNvPr>
          <p:cNvSpPr>
            <a:spLocks noGrp="1"/>
          </p:cNvSpPr>
          <p:nvPr>
            <p:ph type="dt" sz="half" idx="10"/>
          </p:nvPr>
        </p:nvSpPr>
        <p:spPr/>
        <p:txBody>
          <a:bodyPr/>
          <a:lstStyle/>
          <a:p>
            <a:fld id="{60712D42-2F25-4F41-A08C-D4EDC15E8BC7}" type="datetime1">
              <a:rPr lang="en-US" smtClean="0"/>
              <a:t>1/28/2026</a:t>
            </a:fld>
            <a:endParaRPr lang="en-US" dirty="0"/>
          </a:p>
        </p:txBody>
      </p:sp>
      <p:sp>
        <p:nvSpPr>
          <p:cNvPr id="5" name="Footer Placeholder 4">
            <a:extLst>
              <a:ext uri="{FF2B5EF4-FFF2-40B4-BE49-F238E27FC236}">
                <a16:creationId xmlns:a16="http://schemas.microsoft.com/office/drawing/2014/main" id="{444CF2B6-3591-69C2-5461-814192ED29D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BCEB81B-0A71-E2A5-C10A-89F80D418319}"/>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06200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B5461-28C2-A10F-9E04-B4B27A2A28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5D065C-DFC8-C03B-AE8C-997CB0CB04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8247DE-7213-2DE8-E033-F42B0D154E81}"/>
              </a:ext>
            </a:extLst>
          </p:cNvPr>
          <p:cNvSpPr>
            <a:spLocks noGrp="1"/>
          </p:cNvSpPr>
          <p:nvPr>
            <p:ph type="dt" sz="half" idx="10"/>
          </p:nvPr>
        </p:nvSpPr>
        <p:spPr/>
        <p:txBody>
          <a:bodyPr/>
          <a:lstStyle/>
          <a:p>
            <a:fld id="{1C9668F6-91AE-4B6C-943E-E2F964D5CBC6}" type="datetime1">
              <a:rPr lang="en-US" smtClean="0"/>
              <a:t>1/28/2026</a:t>
            </a:fld>
            <a:endParaRPr lang="en-US" dirty="0"/>
          </a:p>
        </p:txBody>
      </p:sp>
      <p:sp>
        <p:nvSpPr>
          <p:cNvPr id="5" name="Footer Placeholder 4">
            <a:extLst>
              <a:ext uri="{FF2B5EF4-FFF2-40B4-BE49-F238E27FC236}">
                <a16:creationId xmlns:a16="http://schemas.microsoft.com/office/drawing/2014/main" id="{04278FEF-C1BF-7AE2-059C-C320DBA5DB2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02A7D46-6BCE-A592-8892-79CE058B0BBA}"/>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306525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B95DA-19D8-3F2B-D4DE-89BB950347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03F056-DE67-0F77-3979-205DAA4DD3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FBBC42-4A19-A9A1-A374-8299FCD353F5}"/>
              </a:ext>
            </a:extLst>
          </p:cNvPr>
          <p:cNvSpPr>
            <a:spLocks noGrp="1"/>
          </p:cNvSpPr>
          <p:nvPr>
            <p:ph type="dt" sz="half" idx="10"/>
          </p:nvPr>
        </p:nvSpPr>
        <p:spPr/>
        <p:txBody>
          <a:bodyPr/>
          <a:lstStyle/>
          <a:p>
            <a:fld id="{408C4849-A006-49C5-84CB-D3B461049D19}" type="datetime1">
              <a:rPr lang="en-US" smtClean="0"/>
              <a:t>1/28/2026</a:t>
            </a:fld>
            <a:endParaRPr lang="en-US" dirty="0"/>
          </a:p>
        </p:txBody>
      </p:sp>
      <p:sp>
        <p:nvSpPr>
          <p:cNvPr id="5" name="Footer Placeholder 4">
            <a:extLst>
              <a:ext uri="{FF2B5EF4-FFF2-40B4-BE49-F238E27FC236}">
                <a16:creationId xmlns:a16="http://schemas.microsoft.com/office/drawing/2014/main" id="{22D20D15-3AD3-09A7-BCFC-3FF52E4D7CE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704C6BC-18B3-9634-0314-C6EC427DD64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51653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BB03F-C52F-BDCF-ABDA-B3FBC83502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4C7D2D-E148-4C08-2FB6-DFCB71A748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FAD9C8-3328-64F9-2697-AC4B0AD8A4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471A317-EED8-3987-B057-9090153DA622}"/>
              </a:ext>
            </a:extLst>
          </p:cNvPr>
          <p:cNvSpPr>
            <a:spLocks noGrp="1"/>
          </p:cNvSpPr>
          <p:nvPr>
            <p:ph type="dt" sz="half" idx="10"/>
          </p:nvPr>
        </p:nvSpPr>
        <p:spPr/>
        <p:txBody>
          <a:bodyPr/>
          <a:lstStyle/>
          <a:p>
            <a:fld id="{39148EEC-7D77-4E25-9BD3-571645F5E848}" type="datetime1">
              <a:rPr lang="en-US" smtClean="0"/>
              <a:t>1/28/2026</a:t>
            </a:fld>
            <a:endParaRPr lang="en-US" dirty="0"/>
          </a:p>
        </p:txBody>
      </p:sp>
      <p:sp>
        <p:nvSpPr>
          <p:cNvPr id="6" name="Footer Placeholder 5">
            <a:extLst>
              <a:ext uri="{FF2B5EF4-FFF2-40B4-BE49-F238E27FC236}">
                <a16:creationId xmlns:a16="http://schemas.microsoft.com/office/drawing/2014/main" id="{1D447C5A-95A2-692F-E992-EAED5136818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06B2433-2DE7-8167-E906-6880CA5CC286}"/>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654441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9F678-5F91-8978-9C30-74F9CE22B0D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16E54A-FBC7-845D-66C8-18A2526032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50D023-F623-FD42-8757-F22DC4CB5A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44CBC7-F317-D935-7101-12FEFE529D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3A70E2-78A3-6987-915E-97787B7DED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FCDBE98-2C01-4DBA-3982-119D94FF970B}"/>
              </a:ext>
            </a:extLst>
          </p:cNvPr>
          <p:cNvSpPr>
            <a:spLocks noGrp="1"/>
          </p:cNvSpPr>
          <p:nvPr>
            <p:ph type="dt" sz="half" idx="10"/>
          </p:nvPr>
        </p:nvSpPr>
        <p:spPr/>
        <p:txBody>
          <a:bodyPr/>
          <a:lstStyle/>
          <a:p>
            <a:fld id="{DFD6D2E7-1492-41C7-8FB6-DE66F246419C}" type="datetime1">
              <a:rPr lang="en-US" smtClean="0"/>
              <a:t>1/28/2026</a:t>
            </a:fld>
            <a:endParaRPr lang="en-US" dirty="0"/>
          </a:p>
        </p:txBody>
      </p:sp>
      <p:sp>
        <p:nvSpPr>
          <p:cNvPr id="8" name="Footer Placeholder 7">
            <a:extLst>
              <a:ext uri="{FF2B5EF4-FFF2-40B4-BE49-F238E27FC236}">
                <a16:creationId xmlns:a16="http://schemas.microsoft.com/office/drawing/2014/main" id="{3C68C4D4-C148-4BB0-8E0C-4515AE8A8A6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16BBF54-8D46-0EFF-25AC-845F4E12F80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10973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B5497-2350-35AA-1064-B98402D3E7D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61AE660-7643-F052-F8CE-8855881B688A}"/>
              </a:ext>
            </a:extLst>
          </p:cNvPr>
          <p:cNvSpPr>
            <a:spLocks noGrp="1"/>
          </p:cNvSpPr>
          <p:nvPr>
            <p:ph type="dt" sz="half" idx="10"/>
          </p:nvPr>
        </p:nvSpPr>
        <p:spPr/>
        <p:txBody>
          <a:bodyPr/>
          <a:lstStyle/>
          <a:p>
            <a:fld id="{0FB60402-28F7-40D8-B75C-1CF21B5CA865}" type="datetime1">
              <a:rPr lang="en-US" smtClean="0"/>
              <a:t>1/28/2026</a:t>
            </a:fld>
            <a:endParaRPr lang="en-US" dirty="0"/>
          </a:p>
        </p:txBody>
      </p:sp>
      <p:sp>
        <p:nvSpPr>
          <p:cNvPr id="4" name="Footer Placeholder 3">
            <a:extLst>
              <a:ext uri="{FF2B5EF4-FFF2-40B4-BE49-F238E27FC236}">
                <a16:creationId xmlns:a16="http://schemas.microsoft.com/office/drawing/2014/main" id="{A13488B6-45CA-5763-A243-E0D3D6CDEB1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14FE031-4543-9740-A54D-E270F6B0BB0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48963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BF5F5C-E0BA-0E3B-BC0E-85DCAB52D8D9}"/>
              </a:ext>
            </a:extLst>
          </p:cNvPr>
          <p:cNvSpPr>
            <a:spLocks noGrp="1"/>
          </p:cNvSpPr>
          <p:nvPr>
            <p:ph type="dt" sz="half" idx="10"/>
          </p:nvPr>
        </p:nvSpPr>
        <p:spPr/>
        <p:txBody>
          <a:bodyPr/>
          <a:lstStyle/>
          <a:p>
            <a:fld id="{CAB18EA6-72D5-4BBF-B45D-9ED1B2D8E602}" type="datetime1">
              <a:rPr lang="en-US" smtClean="0"/>
              <a:t>1/28/2026</a:t>
            </a:fld>
            <a:endParaRPr lang="en-US" dirty="0"/>
          </a:p>
        </p:txBody>
      </p:sp>
      <p:sp>
        <p:nvSpPr>
          <p:cNvPr id="3" name="Footer Placeholder 2">
            <a:extLst>
              <a:ext uri="{FF2B5EF4-FFF2-40B4-BE49-F238E27FC236}">
                <a16:creationId xmlns:a16="http://schemas.microsoft.com/office/drawing/2014/main" id="{A49F5EC5-0457-F1AD-5D9C-6D9A980F8A2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32C97BC-7EEA-303F-0A8B-7CC465D901B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71534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98B54-369A-3FB2-CFBE-F5EE329058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C784F8-511C-A5A7-EA1B-0AC2B18FB7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8F65653-7E39-8424-4822-A3712B2939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95B90F-2B39-6C1F-B968-1D095B661115}"/>
              </a:ext>
            </a:extLst>
          </p:cNvPr>
          <p:cNvSpPr>
            <a:spLocks noGrp="1"/>
          </p:cNvSpPr>
          <p:nvPr>
            <p:ph type="dt" sz="half" idx="10"/>
          </p:nvPr>
        </p:nvSpPr>
        <p:spPr/>
        <p:txBody>
          <a:bodyPr/>
          <a:lstStyle/>
          <a:p>
            <a:fld id="{C64B0C2E-FA1E-4072-8892-B7014B2D464F}" type="datetime1">
              <a:rPr lang="en-US" smtClean="0"/>
              <a:t>1/28/2026</a:t>
            </a:fld>
            <a:endParaRPr lang="en-US" dirty="0"/>
          </a:p>
        </p:txBody>
      </p:sp>
      <p:sp>
        <p:nvSpPr>
          <p:cNvPr id="6" name="Footer Placeholder 5">
            <a:extLst>
              <a:ext uri="{FF2B5EF4-FFF2-40B4-BE49-F238E27FC236}">
                <a16:creationId xmlns:a16="http://schemas.microsoft.com/office/drawing/2014/main" id="{0AFA1E52-FA0A-79E2-41A6-669E1EBED33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2915D0B-9325-5198-2A4C-0CF78AC47C32}"/>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4220000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83798-7F6D-4463-8F31-9165BE86D4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242358A-4CE2-BA77-D189-58EA263379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16DA027-D259-1E5A-1296-08E18F229B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2B0554-FE77-D135-2C18-608F82AE3D60}"/>
              </a:ext>
            </a:extLst>
          </p:cNvPr>
          <p:cNvSpPr>
            <a:spLocks noGrp="1"/>
          </p:cNvSpPr>
          <p:nvPr>
            <p:ph type="dt" sz="half" idx="10"/>
          </p:nvPr>
        </p:nvSpPr>
        <p:spPr/>
        <p:txBody>
          <a:bodyPr/>
          <a:lstStyle/>
          <a:p>
            <a:fld id="{CF10A26A-8D56-4920-848E-6B55C893CEA5}" type="datetime1">
              <a:rPr lang="en-US" smtClean="0"/>
              <a:t>1/28/2026</a:t>
            </a:fld>
            <a:endParaRPr lang="en-US" dirty="0"/>
          </a:p>
        </p:txBody>
      </p:sp>
      <p:sp>
        <p:nvSpPr>
          <p:cNvPr id="6" name="Footer Placeholder 5">
            <a:extLst>
              <a:ext uri="{FF2B5EF4-FFF2-40B4-BE49-F238E27FC236}">
                <a16:creationId xmlns:a16="http://schemas.microsoft.com/office/drawing/2014/main" id="{38F459FC-A5C5-95C9-74EF-54B4C24B61E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0268503-E8C1-3C5D-50A0-95E34B1AB56A}"/>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12419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5471E-B1A2-EC56-6894-5A845B57A54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FE8314-82DB-8437-8FC7-D005B1A473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9EAB25-0C2D-DACE-F95E-DBADC0BF1464}"/>
              </a:ext>
            </a:extLst>
          </p:cNvPr>
          <p:cNvSpPr>
            <a:spLocks noGrp="1"/>
          </p:cNvSpPr>
          <p:nvPr>
            <p:ph type="dt" sz="half" idx="10"/>
          </p:nvPr>
        </p:nvSpPr>
        <p:spPr/>
        <p:txBody>
          <a:bodyPr/>
          <a:lstStyle/>
          <a:p>
            <a:fld id="{F99A2D53-48F5-428D-8942-5A3B9F525AEA}" type="datetime1">
              <a:rPr lang="en-US" smtClean="0"/>
              <a:t>1/28/2026</a:t>
            </a:fld>
            <a:endParaRPr lang="en-US" dirty="0"/>
          </a:p>
        </p:txBody>
      </p:sp>
      <p:sp>
        <p:nvSpPr>
          <p:cNvPr id="5" name="Footer Placeholder 4">
            <a:extLst>
              <a:ext uri="{FF2B5EF4-FFF2-40B4-BE49-F238E27FC236}">
                <a16:creationId xmlns:a16="http://schemas.microsoft.com/office/drawing/2014/main" id="{CEA36475-0510-1AAE-B45F-A2E3804EBF0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80A1DB7-3325-BAB7-BF40-0A1469CA86CA}"/>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457051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0C6E86-74B4-A160-00E9-D374AB66EB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B46BC7-AAE7-0751-7531-CD68B00B20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7C0848-C4AA-2286-A27A-F1657854577C}"/>
              </a:ext>
            </a:extLst>
          </p:cNvPr>
          <p:cNvSpPr>
            <a:spLocks noGrp="1"/>
          </p:cNvSpPr>
          <p:nvPr>
            <p:ph type="dt" sz="half" idx="10"/>
          </p:nvPr>
        </p:nvSpPr>
        <p:spPr/>
        <p:txBody>
          <a:bodyPr/>
          <a:lstStyle/>
          <a:p>
            <a:fld id="{ABC05B67-0786-4F6C-8C78-A4001F94E607}" type="datetime1">
              <a:rPr lang="en-US" smtClean="0"/>
              <a:t>1/28/2026</a:t>
            </a:fld>
            <a:endParaRPr lang="en-US" dirty="0"/>
          </a:p>
        </p:txBody>
      </p:sp>
      <p:sp>
        <p:nvSpPr>
          <p:cNvPr id="5" name="Footer Placeholder 4">
            <a:extLst>
              <a:ext uri="{FF2B5EF4-FFF2-40B4-BE49-F238E27FC236}">
                <a16:creationId xmlns:a16="http://schemas.microsoft.com/office/drawing/2014/main" id="{CBC73A58-74C4-294F-4692-1CD289F265A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A3D2B51-8B2A-84A8-373C-71D0418CB2B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95540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4587F4-17A1-FA28-66D7-8FCC080BB6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C2E66B-BB46-CC7B-3CCB-F81A7D9CAF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3B19AD-FD03-007A-68AE-317B64B55E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33EB5C-B4A5-43B1-8958-A2F809DED26F}" type="datetime1">
              <a:rPr lang="en-US" smtClean="0"/>
              <a:t>1/28/2026</a:t>
            </a:fld>
            <a:endParaRPr lang="en-US" dirty="0"/>
          </a:p>
        </p:txBody>
      </p:sp>
      <p:sp>
        <p:nvSpPr>
          <p:cNvPr id="5" name="Footer Placeholder 4">
            <a:extLst>
              <a:ext uri="{FF2B5EF4-FFF2-40B4-BE49-F238E27FC236}">
                <a16:creationId xmlns:a16="http://schemas.microsoft.com/office/drawing/2014/main" id="{C90CF4DB-40CD-3611-D363-0891F448B4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890EDA0-86AA-860A-F588-35499823C0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70693849"/>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FEA04-C811-53B5-72D1-9FD00966A722}"/>
              </a:ext>
            </a:extLst>
          </p:cNvPr>
          <p:cNvSpPr>
            <a:spLocks noGrp="1"/>
          </p:cNvSpPr>
          <p:nvPr>
            <p:ph type="ctrTitle"/>
          </p:nvPr>
        </p:nvSpPr>
        <p:spPr>
          <a:xfrm>
            <a:off x="575368" y="2425412"/>
            <a:ext cx="10658167" cy="1003588"/>
          </a:xfrm>
        </p:spPr>
        <p:txBody>
          <a:bodyPr anchor="ctr">
            <a:normAutofit/>
          </a:bodyPr>
          <a:lstStyle/>
          <a:p>
            <a:pPr algn="ctr"/>
            <a:r>
              <a:rPr lang="en-US" sz="3000" b="1" dirty="0">
                <a:solidFill>
                  <a:srgbClr val="000000"/>
                </a:solidFill>
                <a:latin typeface="Times New Roman" panose="02020603050405020304" pitchFamily="18" charset="0"/>
                <a:cs typeface="Times New Roman" panose="02020603050405020304" pitchFamily="18" charset="0"/>
              </a:rPr>
              <a:t>AI-INTERVIEW PREPARATION COACH</a:t>
            </a:r>
            <a:endParaRPr lang="en-IN" sz="3000" b="1"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D61CC86-CA75-F135-B610-B7B91283CF60}"/>
              </a:ext>
            </a:extLst>
          </p:cNvPr>
          <p:cNvSpPr>
            <a:spLocks noGrp="1"/>
          </p:cNvSpPr>
          <p:nvPr>
            <p:ph type="subTitle" idx="1"/>
          </p:nvPr>
        </p:nvSpPr>
        <p:spPr>
          <a:xfrm>
            <a:off x="7167717" y="4168452"/>
            <a:ext cx="4581831" cy="1858948"/>
          </a:xfrm>
        </p:spPr>
        <p:txBody>
          <a:bodyPr>
            <a:noAutofit/>
          </a:bodyPr>
          <a:lstStyle/>
          <a:p>
            <a:pPr algn="just"/>
            <a:r>
              <a:rPr lang="en-IN" sz="2000" b="1" dirty="0">
                <a:solidFill>
                  <a:schemeClr val="tx1">
                    <a:lumMod val="85000"/>
                    <a:lumOff val="15000"/>
                  </a:schemeClr>
                </a:solidFill>
                <a:latin typeface="Times New Roman" panose="02020603050405020304" pitchFamily="18" charset="0"/>
                <a:cs typeface="Times New Roman" panose="02020603050405020304" pitchFamily="18" charset="0"/>
              </a:rPr>
              <a:t>Presented By</a:t>
            </a:r>
            <a:r>
              <a:rPr lang="en-IN" sz="2000" dirty="0">
                <a:solidFill>
                  <a:schemeClr val="tx1">
                    <a:lumMod val="85000"/>
                    <a:lumOff val="15000"/>
                  </a:schemeClr>
                </a:solidFill>
                <a:latin typeface="Times New Roman" panose="02020603050405020304" pitchFamily="18" charset="0"/>
                <a:cs typeface="Times New Roman" panose="02020603050405020304" pitchFamily="18" charset="0"/>
              </a:rPr>
              <a:t>:- </a:t>
            </a:r>
          </a:p>
          <a:p>
            <a:pPr algn="l"/>
            <a:r>
              <a:rPr lang="en-IN" sz="2000" dirty="0">
                <a:solidFill>
                  <a:schemeClr val="tx1">
                    <a:lumMod val="85000"/>
                    <a:lumOff val="15000"/>
                  </a:schemeClr>
                </a:solidFill>
                <a:latin typeface="Times New Roman" panose="02020603050405020304" pitchFamily="18" charset="0"/>
                <a:cs typeface="Times New Roman" panose="02020603050405020304" pitchFamily="18" charset="0"/>
              </a:rPr>
              <a:t>N. Raghunandan, 23B81A66G0</a:t>
            </a:r>
          </a:p>
          <a:p>
            <a:pPr algn="l"/>
            <a:r>
              <a:rPr lang="en-IN" sz="2000" dirty="0">
                <a:solidFill>
                  <a:schemeClr val="tx1">
                    <a:lumMod val="85000"/>
                    <a:lumOff val="15000"/>
                  </a:schemeClr>
                </a:solidFill>
                <a:latin typeface="Times New Roman" panose="02020603050405020304" pitchFamily="18" charset="0"/>
                <a:cs typeface="Times New Roman" panose="02020603050405020304" pitchFamily="18" charset="0"/>
              </a:rPr>
              <a:t>M. Surya Teja, 23B81A66J3</a:t>
            </a:r>
            <a:r>
              <a:rPr lang="en-IN" sz="2000" b="1" dirty="0">
                <a:solidFill>
                  <a:schemeClr val="tx1">
                    <a:lumMod val="85000"/>
                    <a:lumOff val="15000"/>
                  </a:schemeClr>
                </a:solidFill>
                <a:latin typeface="Times New Roman" panose="02020603050405020304" pitchFamily="18" charset="0"/>
                <a:cs typeface="Times New Roman" panose="02020603050405020304" pitchFamily="18" charset="0"/>
              </a:rPr>
              <a:t>				</a:t>
            </a:r>
            <a:endParaRPr lang="en-IN" sz="20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675660B-0830-E7BC-7315-CE4D769F9230}"/>
              </a:ext>
            </a:extLst>
          </p:cNvPr>
          <p:cNvSpPr txBox="1"/>
          <p:nvPr/>
        </p:nvSpPr>
        <p:spPr>
          <a:xfrm>
            <a:off x="1827611" y="289671"/>
            <a:ext cx="9441752" cy="2308324"/>
          </a:xfrm>
          <a:prstGeom prst="rect">
            <a:avLst/>
          </a:prstGeom>
          <a:noFill/>
        </p:spPr>
        <p:txBody>
          <a:bodyPr wrap="none" rtlCol="0">
            <a:spAutoFit/>
          </a:bodyPr>
          <a:lstStyle/>
          <a:p>
            <a:pPr algn="ctr"/>
            <a:r>
              <a:rPr lang="en-US" sz="2400" b="1" dirty="0">
                <a:latin typeface="CG omega"/>
                <a:cs typeface="Times New Roman" pitchFamily="18" charset="0"/>
              </a:rPr>
              <a:t>CVR COLLEGE OF ENGINEERING</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itchFamily="18" charset="0"/>
              </a:rPr>
              <a:t>(An UGC Autonomous Institute, Accredited by NAAC with ‘A’ Grade)</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itchFamily="18" charset="0"/>
              </a:rPr>
              <a:t>Department of CSE(AI&amp;ML)</a:t>
            </a:r>
            <a:br>
              <a:rPr lang="en-US" sz="2400" b="1" dirty="0">
                <a:latin typeface="Times New Roman" panose="02020603050405020304" pitchFamily="18" charset="0"/>
                <a:cs typeface="Times New Roman" pitchFamily="18" charset="0"/>
              </a:rPr>
            </a:br>
            <a:r>
              <a:rPr lang="en-US" sz="2400" b="1" dirty="0">
                <a:latin typeface="Times New Roman" panose="02020603050405020304" pitchFamily="18" charset="0"/>
                <a:cs typeface="Times New Roman" pitchFamily="18" charset="0"/>
              </a:rPr>
              <a:t>B. Tech CSE(AI&amp;ML)-C III Year II Semester</a:t>
            </a:r>
          </a:p>
          <a:p>
            <a:pPr algn="ctr"/>
            <a:r>
              <a:rPr lang="en-IN" sz="2400" b="1" i="0" dirty="0">
                <a:effectLst/>
                <a:latin typeface="Times New Roman" panose="02020603050405020304" pitchFamily="18" charset="0"/>
                <a:cs typeface="Times New Roman" panose="02020603050405020304" pitchFamily="18" charset="0"/>
              </a:rPr>
              <a:t>Industry Oriented </a:t>
            </a:r>
            <a:r>
              <a:rPr lang="en-IN" sz="2400" b="1" dirty="0">
                <a:latin typeface="Times New Roman" panose="02020603050405020304" pitchFamily="18" charset="0"/>
                <a:cs typeface="Times New Roman" panose="02020603050405020304" pitchFamily="18" charset="0"/>
              </a:rPr>
              <a:t>Mini</a:t>
            </a:r>
            <a:r>
              <a:rPr lang="en-IN" sz="2400" b="1" i="0" dirty="0">
                <a:effectLst/>
                <a:latin typeface="Times New Roman" panose="02020603050405020304" pitchFamily="18" charset="0"/>
                <a:cs typeface="Times New Roman" panose="02020603050405020304" pitchFamily="18" charset="0"/>
              </a:rPr>
              <a:t> Project</a:t>
            </a:r>
            <a:endParaRPr lang="en-US" sz="2400" b="1" dirty="0">
              <a:latin typeface="Times New Roman" panose="02020603050405020304" pitchFamily="18" charset="0"/>
              <a:cs typeface="Times New Roman" panose="02020603050405020304" pitchFamily="18" charset="0"/>
            </a:endParaRPr>
          </a:p>
          <a:p>
            <a:pPr algn="ct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AC5781C-DADC-4274-F818-371BA091797D}"/>
              </a:ext>
            </a:extLst>
          </p:cNvPr>
          <p:cNvPicPr/>
          <p:nvPr/>
        </p:nvPicPr>
        <p:blipFill>
          <a:blip r:embed="rId2" cstate="print"/>
          <a:stretch>
            <a:fillRect/>
          </a:stretch>
        </p:blipFill>
        <p:spPr>
          <a:xfrm>
            <a:off x="470793" y="387886"/>
            <a:ext cx="1461393" cy="1531931"/>
          </a:xfrm>
          <a:prstGeom prst="rect">
            <a:avLst/>
          </a:prstGeom>
        </p:spPr>
      </p:pic>
      <p:sp>
        <p:nvSpPr>
          <p:cNvPr id="6" name="TextBox 5">
            <a:extLst>
              <a:ext uri="{FF2B5EF4-FFF2-40B4-BE49-F238E27FC236}">
                <a16:creationId xmlns:a16="http://schemas.microsoft.com/office/drawing/2014/main" id="{F29B4C4F-CF89-7D33-46E6-E2CFCE31A1E6}"/>
              </a:ext>
            </a:extLst>
          </p:cNvPr>
          <p:cNvSpPr txBox="1"/>
          <p:nvPr/>
        </p:nvSpPr>
        <p:spPr>
          <a:xfrm>
            <a:off x="837730" y="3934595"/>
            <a:ext cx="3991897" cy="707886"/>
          </a:xfrm>
          <a:prstGeom prst="rect">
            <a:avLst/>
          </a:prstGeom>
          <a:noFill/>
        </p:spPr>
        <p:txBody>
          <a:bodyPr wrap="square" rtlCol="0">
            <a:spAutoFit/>
          </a:bodyPr>
          <a:lstStyle/>
          <a:p>
            <a:r>
              <a:rPr lang="en-IN" sz="2000" b="1" i="0" dirty="0">
                <a:effectLst/>
                <a:latin typeface="Times New Roman" panose="02020603050405020304" pitchFamily="18" charset="0"/>
                <a:cs typeface="Times New Roman" panose="02020603050405020304" pitchFamily="18" charset="0"/>
              </a:rPr>
              <a:t>PROJECT SUPERVISOR:</a:t>
            </a:r>
          </a:p>
          <a:p>
            <a:r>
              <a:rPr lang="en-IN" sz="2000" b="1" dirty="0">
                <a:latin typeface="Times New Roman" panose="02020603050405020304" pitchFamily="18" charset="0"/>
                <a:cs typeface="Times New Roman" panose="02020603050405020304" pitchFamily="18" charset="0"/>
              </a:rPr>
              <a:t>Dr. B. Prasanthi</a:t>
            </a:r>
          </a:p>
        </p:txBody>
      </p:sp>
    </p:spTree>
    <p:extLst>
      <p:ext uri="{BB962C8B-B14F-4D97-AF65-F5344CB8AC3E}">
        <p14:creationId xmlns:p14="http://schemas.microsoft.com/office/powerpoint/2010/main" val="2880555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82183-C9CE-70B3-E631-E65B6762CD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1C3BC-B948-DD7A-1193-644C07F867B9}"/>
              </a:ext>
            </a:extLst>
          </p:cNvPr>
          <p:cNvSpPr>
            <a:spLocks noGrp="1"/>
          </p:cNvSpPr>
          <p:nvPr>
            <p:ph type="title"/>
          </p:nvPr>
        </p:nvSpPr>
        <p:spPr>
          <a:xfrm>
            <a:off x="677333" y="496479"/>
            <a:ext cx="8596668" cy="785567"/>
          </a:xfrm>
        </p:spPr>
        <p:txBody>
          <a:bodyPr>
            <a:normAutofit/>
          </a:bodyPr>
          <a:lstStyle/>
          <a:p>
            <a:r>
              <a:rPr lang="en-US" sz="2800" b="1" dirty="0">
                <a:latin typeface="Times New Roman" panose="02020603050405020304" pitchFamily="18" charset="0"/>
                <a:cs typeface="Times New Roman" panose="02020603050405020304" pitchFamily="18" charset="0"/>
              </a:rPr>
              <a:t>Agenda of the IOMP Presentation</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DCEDFF-8A7E-53D4-8B90-4CAABD0AC994}"/>
              </a:ext>
            </a:extLst>
          </p:cNvPr>
          <p:cNvSpPr>
            <a:spLocks noGrp="1"/>
          </p:cNvSpPr>
          <p:nvPr>
            <p:ph idx="1"/>
          </p:nvPr>
        </p:nvSpPr>
        <p:spPr>
          <a:xfrm>
            <a:off x="671835" y="1324832"/>
            <a:ext cx="10681965" cy="4438805"/>
          </a:xfrm>
        </p:spPr>
        <p:txBody>
          <a:bodyPr>
            <a:normAutofit lnSpcReduction="10000"/>
          </a:bodyPr>
          <a:lstStyle/>
          <a:p>
            <a:pPr algn="just">
              <a:buClrTx/>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Abstract</a:t>
            </a:r>
          </a:p>
          <a:p>
            <a:pPr algn="just">
              <a:buClrTx/>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Introduction</a:t>
            </a:r>
          </a:p>
          <a:p>
            <a:pPr algn="just">
              <a:buClrTx/>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Literature Review</a:t>
            </a:r>
          </a:p>
          <a:p>
            <a:pPr algn="just">
              <a:buClrTx/>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Problem Statement</a:t>
            </a:r>
          </a:p>
          <a:p>
            <a:pPr algn="just">
              <a:buClrTx/>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Objectives</a:t>
            </a:r>
          </a:p>
          <a:p>
            <a:pPr algn="just">
              <a:buClrTx/>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Functional &amp; Non-functional Requirements</a:t>
            </a:r>
          </a:p>
          <a:p>
            <a:pPr algn="just">
              <a:buClrTx/>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Hardware &amp; Software Requirements</a:t>
            </a:r>
          </a:p>
          <a:p>
            <a:pPr algn="just"/>
            <a:r>
              <a:rPr lang="en-GB" sz="2400" dirty="0">
                <a:latin typeface="Times New Roman" panose="02020603050405020304" pitchFamily="18" charset="0"/>
                <a:cs typeface="Times New Roman" panose="02020603050405020304" pitchFamily="18" charset="0"/>
              </a:rPr>
              <a:t>Proposed Methodology</a:t>
            </a:r>
          </a:p>
          <a:p>
            <a:pPr algn="just">
              <a:buClrTx/>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System Architecture, Class diagram, Sequence Diagram &amp; Activity Diagram</a:t>
            </a:r>
          </a:p>
          <a:p>
            <a:pPr algn="just"/>
            <a:r>
              <a:rPr lang="en-US" sz="2400" dirty="0">
                <a:latin typeface="Times New Roman" panose="02020603050405020304" pitchFamily="18" charset="0"/>
                <a:cs typeface="Times New Roman" panose="02020603050405020304" pitchFamily="18" charset="0"/>
              </a:rPr>
              <a:t>Future course of action</a:t>
            </a:r>
            <a:endParaRPr lang="en-GB" sz="2400" dirty="0">
              <a:latin typeface="Times New Roman" panose="02020603050405020304" pitchFamily="18" charset="0"/>
              <a:cs typeface="Times New Roman" panose="02020603050405020304" pitchFamily="18" charset="0"/>
            </a:endParaRPr>
          </a:p>
          <a:p>
            <a:pPr marL="0" indent="0" algn="just">
              <a:buClrTx/>
              <a:buNone/>
            </a:pPr>
            <a:endParaRPr lang="en-GB" sz="2400" dirty="0">
              <a:latin typeface="Times New Roman" panose="02020603050405020304" pitchFamily="18" charset="0"/>
              <a:cs typeface="Times New Roman" panose="02020603050405020304" pitchFamily="18" charset="0"/>
            </a:endParaRPr>
          </a:p>
          <a:p>
            <a:pPr algn="just">
              <a:buClrTx/>
              <a:buFont typeface="Arial" panose="020B0604020202020204" pitchFamily="34" charset="0"/>
              <a:buChar char="•"/>
            </a:pPr>
            <a:endParaRPr lang="en-GB" sz="24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72615B48-541E-3021-4389-CB39941A6511}"/>
              </a:ext>
            </a:extLst>
          </p:cNvPr>
          <p:cNvCxnSpPr>
            <a:cxnSpLocks/>
          </p:cNvCxnSpPr>
          <p:nvPr/>
        </p:nvCxnSpPr>
        <p:spPr>
          <a:xfrm flipV="1">
            <a:off x="301250" y="1189054"/>
            <a:ext cx="11052550" cy="36000"/>
          </a:xfrm>
          <a:prstGeom prst="line">
            <a:avLst/>
          </a:prstGeom>
          <a:ln w="28575">
            <a:solidFill>
              <a:schemeClr val="tx2">
                <a:lumMod val="50000"/>
              </a:schemeClr>
            </a:solidFill>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92956BA0-5DB9-5B64-A2E7-E2518B57C144}"/>
              </a:ext>
            </a:extLst>
          </p:cNvPr>
          <p:cNvSpPr>
            <a:spLocks noGrp="1"/>
          </p:cNvSpPr>
          <p:nvPr>
            <p:ph type="sldNum" sz="quarter" idx="12"/>
          </p:nvPr>
        </p:nvSpPr>
        <p:spPr/>
        <p:txBody>
          <a:bodyPr/>
          <a:lstStyle/>
          <a:p>
            <a:fld id="{519954A3-9DFD-4C44-94BA-B95130A3BA1C}" type="slidenum">
              <a:rPr lang="en-US" sz="1600" b="1" smtClean="0"/>
              <a:t>2</a:t>
            </a:fld>
            <a:endParaRPr lang="en-US" sz="1600" b="1" dirty="0"/>
          </a:p>
        </p:txBody>
      </p:sp>
    </p:spTree>
    <p:extLst>
      <p:ext uri="{BB962C8B-B14F-4D97-AF65-F5344CB8AC3E}">
        <p14:creationId xmlns:p14="http://schemas.microsoft.com/office/powerpoint/2010/main" val="774819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51EED-AD79-4378-DBC4-92662D75DB23}"/>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EE6CB0B-E1F0-630F-11B1-7BC5B5E3889F}"/>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AI Interview Preparation Coach </a:t>
            </a:r>
            <a:r>
              <a:rPr lang="en-US" sz="2400" dirty="0">
                <a:latin typeface="Times New Roman" panose="02020603050405020304" pitchFamily="18" charset="0"/>
                <a:cs typeface="Times New Roman" panose="02020603050405020304" pitchFamily="18" charset="0"/>
              </a:rPr>
              <a:t>is an intelligent web-based application developed using </a:t>
            </a:r>
            <a:r>
              <a:rPr lang="en-US" sz="2400" b="1" dirty="0">
                <a:latin typeface="Times New Roman" panose="02020603050405020304" pitchFamily="18" charset="0"/>
                <a:cs typeface="Times New Roman" panose="02020603050405020304" pitchFamily="18" charset="0"/>
              </a:rPr>
              <a:t>Python and </a:t>
            </a:r>
            <a:r>
              <a:rPr lang="en-US" sz="2400" b="1" dirty="0" err="1">
                <a:latin typeface="Times New Roman" panose="02020603050405020304" pitchFamily="18" charset="0"/>
                <a:cs typeface="Times New Roman" panose="02020603050405020304" pitchFamily="18" charset="0"/>
              </a:rPr>
              <a:t>Streamlit</a:t>
            </a:r>
            <a:r>
              <a:rPr lang="en-US" sz="2400" dirty="0">
                <a:latin typeface="Times New Roman" panose="02020603050405020304" pitchFamily="18" charset="0"/>
                <a:cs typeface="Times New Roman" panose="02020603050405020304" pitchFamily="18" charset="0"/>
              </a:rPr>
              <a:t> that simulates real-world interview environments. The system supports </a:t>
            </a:r>
            <a:r>
              <a:rPr lang="en-US" sz="2400" b="1" dirty="0">
                <a:latin typeface="Times New Roman" panose="02020603050405020304" pitchFamily="18" charset="0"/>
                <a:cs typeface="Times New Roman" panose="02020603050405020304" pitchFamily="18" charset="0"/>
              </a:rPr>
              <a:t>HR, Behavioral, and Technical interviews</a:t>
            </a:r>
            <a:r>
              <a:rPr lang="en-US" sz="2400" dirty="0">
                <a:latin typeface="Times New Roman" panose="02020603050405020304" pitchFamily="18" charset="0"/>
                <a:cs typeface="Times New Roman" panose="02020603050405020304" pitchFamily="18" charset="0"/>
              </a:rPr>
              <a:t>, including </a:t>
            </a:r>
            <a:r>
              <a:rPr lang="en-US" sz="2400" b="1" dirty="0">
                <a:latin typeface="Times New Roman" panose="02020603050405020304" pitchFamily="18" charset="0"/>
                <a:cs typeface="Times New Roman" panose="02020603050405020304" pitchFamily="18" charset="0"/>
              </a:rPr>
              <a:t>live coding rounds</a:t>
            </a:r>
            <a:r>
              <a:rPr lang="en-US" sz="2400" dirty="0">
                <a:latin typeface="Times New Roman" panose="02020603050405020304" pitchFamily="18" charset="0"/>
                <a:cs typeface="Times New Roman" panose="02020603050405020304" pitchFamily="18" charset="0"/>
              </a:rPr>
              <a:t> with automated evaluation. By leveraging </a:t>
            </a:r>
            <a:r>
              <a:rPr lang="en-US" sz="2400" b="1" dirty="0">
                <a:latin typeface="Times New Roman" panose="02020603050405020304" pitchFamily="18" charset="0"/>
                <a:cs typeface="Times New Roman" panose="02020603050405020304" pitchFamily="18" charset="0"/>
              </a:rPr>
              <a:t>OpenAI’s GPT models</a:t>
            </a:r>
            <a:r>
              <a:rPr lang="en-US" sz="2400" dirty="0">
                <a:latin typeface="Times New Roman" panose="02020603050405020304" pitchFamily="18" charset="0"/>
                <a:cs typeface="Times New Roman" panose="02020603050405020304" pitchFamily="18" charset="0"/>
              </a:rPr>
              <a:t>, the application dynamically generates interview questions, evaluates user responses, provides structured feedback, and generates performance scorecards. This project aims to help students and job seekers improve interview readiness through realistic practice and instant AI-driven feedback.</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E334F8D-7834-7CF2-4FCC-3C055940797B}"/>
              </a:ext>
            </a:extLst>
          </p:cNvPr>
          <p:cNvSpPr>
            <a:spLocks noGrp="1"/>
          </p:cNvSpPr>
          <p:nvPr>
            <p:ph type="sldNum" sz="quarter" idx="12"/>
          </p:nvPr>
        </p:nvSpPr>
        <p:spPr/>
        <p:txBody>
          <a:bodyPr/>
          <a:lstStyle/>
          <a:p>
            <a:fld id="{519954A3-9DFD-4C44-94BA-B95130A3BA1C}" type="slidenum">
              <a:rPr lang="en-US" smtClean="0"/>
              <a:t>3</a:t>
            </a:fld>
            <a:endParaRPr lang="en-US" dirty="0"/>
          </a:p>
        </p:txBody>
      </p:sp>
      <p:cxnSp>
        <p:nvCxnSpPr>
          <p:cNvPr id="11" name="Straight Connector 10">
            <a:extLst>
              <a:ext uri="{FF2B5EF4-FFF2-40B4-BE49-F238E27FC236}">
                <a16:creationId xmlns:a16="http://schemas.microsoft.com/office/drawing/2014/main" id="{674439F4-E2C3-4608-29AE-120593043BAC}"/>
              </a:ext>
            </a:extLst>
          </p:cNvPr>
          <p:cNvCxnSpPr/>
          <p:nvPr/>
        </p:nvCxnSpPr>
        <p:spPr>
          <a:xfrm>
            <a:off x="838200" y="1523539"/>
            <a:ext cx="105156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94706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5F1C6-B840-7202-B279-B8AE662D4646}"/>
              </a:ext>
            </a:extLst>
          </p:cNvPr>
          <p:cNvSpPr>
            <a:spLocks noGrp="1"/>
          </p:cNvSpPr>
          <p:nvPr>
            <p:ph type="ctrTitle"/>
          </p:nvPr>
        </p:nvSpPr>
        <p:spPr>
          <a:xfrm>
            <a:off x="855406" y="257124"/>
            <a:ext cx="5102942" cy="1109560"/>
          </a:xfrm>
        </p:spPr>
        <p:txBody>
          <a:bodyPr>
            <a:normAutofit/>
          </a:bodyPr>
          <a:lstStyle/>
          <a:p>
            <a:pPr algn="l"/>
            <a:r>
              <a:rPr lang="en-US" sz="4400" dirty="0">
                <a:latin typeface="Times New Roman" panose="02020603050405020304" pitchFamily="18" charset="0"/>
                <a:cs typeface="Times New Roman" panose="02020603050405020304" pitchFamily="18" charset="0"/>
              </a:rPr>
              <a:t>Introduction</a:t>
            </a:r>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7417C60-7C60-CD9E-C91B-EF9914BD33C6}"/>
              </a:ext>
            </a:extLst>
          </p:cNvPr>
          <p:cNvSpPr>
            <a:spLocks noGrp="1"/>
          </p:cNvSpPr>
          <p:nvPr>
            <p:ph type="subTitle" idx="1"/>
          </p:nvPr>
        </p:nvSpPr>
        <p:spPr>
          <a:xfrm>
            <a:off x="855406" y="1865671"/>
            <a:ext cx="9144000" cy="3517490"/>
          </a:xfrm>
        </p:spPr>
        <p:txBody>
          <a:bodyPr/>
          <a:lstStyle/>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Interview preparation is a critical yet challenging phase for students and professionals. Traditional preparation methods lack </a:t>
            </a:r>
            <a:r>
              <a:rPr lang="en-US" b="1" dirty="0">
                <a:latin typeface="Times New Roman" panose="02020603050405020304" pitchFamily="18" charset="0"/>
                <a:cs typeface="Times New Roman" panose="02020603050405020304" pitchFamily="18" charset="0"/>
              </a:rPr>
              <a:t>interactivity, personalization, and real-time feedback</a:t>
            </a:r>
            <a:r>
              <a:rPr lang="en-US" dirty="0">
                <a:latin typeface="Times New Roman" panose="02020603050405020304" pitchFamily="18" charset="0"/>
                <a:cs typeface="Times New Roman" panose="02020603050405020304" pitchFamily="18" charset="0"/>
              </a:rPr>
              <a:t>. With the advancement of Artificial Intelligence and Large Language Models, interview simulations can now closely mimic real interview scenarios.</a:t>
            </a:r>
            <a:endParaRPr lang="en-IN"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AI Interview Preparation Coach </a:t>
            </a:r>
            <a:r>
              <a:rPr lang="en-US" dirty="0">
                <a:latin typeface="Times New Roman" panose="02020603050405020304" pitchFamily="18" charset="0"/>
                <a:cs typeface="Times New Roman" panose="02020603050405020304" pitchFamily="18" charset="0"/>
              </a:rPr>
              <a:t>provides a unified platform where users can practice different interview types, attempt coding problems in a live editor, and receive AI-evaluated feedback, thereby bridging the gap between preparation and real interviews.</a:t>
            </a:r>
          </a:p>
        </p:txBody>
      </p:sp>
      <p:cxnSp>
        <p:nvCxnSpPr>
          <p:cNvPr id="5" name="Straight Connector 4">
            <a:extLst>
              <a:ext uri="{FF2B5EF4-FFF2-40B4-BE49-F238E27FC236}">
                <a16:creationId xmlns:a16="http://schemas.microsoft.com/office/drawing/2014/main" id="{5D87E428-4CB7-C159-DDC4-A6DE1F28842C}"/>
              </a:ext>
            </a:extLst>
          </p:cNvPr>
          <p:cNvCxnSpPr>
            <a:cxnSpLocks/>
          </p:cNvCxnSpPr>
          <p:nvPr/>
        </p:nvCxnSpPr>
        <p:spPr>
          <a:xfrm>
            <a:off x="855406" y="1474839"/>
            <a:ext cx="10677833"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49341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76D02-010D-B488-3B8E-C91B1B17BF9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Literature Review</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90F15F3-146F-9204-C251-74C116105646}"/>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Several existing platforms such as online mock interviews, coding practice websites, and interview preparation portals provide partial solutions. However:</a:t>
            </a:r>
          </a:p>
          <a:p>
            <a:r>
              <a:rPr lang="en-US" sz="2400" dirty="0">
                <a:latin typeface="Times New Roman" panose="02020603050405020304" pitchFamily="18" charset="0"/>
                <a:cs typeface="Times New Roman" panose="02020603050405020304" pitchFamily="18" charset="0"/>
              </a:rPr>
              <a:t>Most platforms focus </a:t>
            </a:r>
            <a:r>
              <a:rPr lang="en-US" sz="2400" b="1" dirty="0">
                <a:latin typeface="Times New Roman" panose="02020603050405020304" pitchFamily="18" charset="0"/>
                <a:cs typeface="Times New Roman" panose="02020603050405020304" pitchFamily="18" charset="0"/>
              </a:rPr>
              <a:t>only on coding</a:t>
            </a:r>
            <a:r>
              <a:rPr lang="en-US" sz="2400" dirty="0">
                <a:latin typeface="Times New Roman" panose="02020603050405020304" pitchFamily="18" charset="0"/>
                <a:cs typeface="Times New Roman" panose="02020603050405020304" pitchFamily="18" charset="0"/>
              </a:rPr>
              <a:t> or </a:t>
            </a:r>
            <a:r>
              <a:rPr lang="en-US" sz="2400" b="1" dirty="0">
                <a:latin typeface="Times New Roman" panose="02020603050405020304" pitchFamily="18" charset="0"/>
                <a:cs typeface="Times New Roman" panose="02020603050405020304" pitchFamily="18" charset="0"/>
              </a:rPr>
              <a:t>only on HR questions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Feedback is often </a:t>
            </a:r>
            <a:r>
              <a:rPr lang="en-US" sz="2400" b="1" dirty="0">
                <a:latin typeface="Times New Roman" panose="02020603050405020304" pitchFamily="18" charset="0"/>
                <a:cs typeface="Times New Roman" panose="02020603050405020304" pitchFamily="18" charset="0"/>
              </a:rPr>
              <a:t>generic or delayed</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Lack of </a:t>
            </a:r>
            <a:r>
              <a:rPr lang="en-US" sz="2400" b="1" dirty="0">
                <a:latin typeface="Times New Roman" panose="02020603050405020304" pitchFamily="18" charset="0"/>
                <a:cs typeface="Times New Roman" panose="02020603050405020304" pitchFamily="18" charset="0"/>
              </a:rPr>
              <a:t>integrated evaluation and scoring</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Recent research on </a:t>
            </a:r>
            <a:r>
              <a:rPr lang="en-US" sz="2400" b="1" dirty="0">
                <a:latin typeface="Times New Roman" panose="02020603050405020304" pitchFamily="18" charset="0"/>
                <a:cs typeface="Times New Roman" panose="02020603050405020304" pitchFamily="18" charset="0"/>
              </a:rPr>
              <a:t>AI-based assessment systems</a:t>
            </a:r>
            <a:r>
              <a:rPr lang="en-US" sz="2400" dirty="0">
                <a:latin typeface="Times New Roman" panose="02020603050405020304" pitchFamily="18" charset="0"/>
                <a:cs typeface="Times New Roman" panose="02020603050405020304" pitchFamily="18" charset="0"/>
              </a:rPr>
              <a:t> highlights the effectiveness of Large Language Models in natural language evaluation, code analysis, and feedback generation. This project builds upon these advancements by integrating </a:t>
            </a:r>
            <a:r>
              <a:rPr lang="en-US" sz="2400" b="1" dirty="0">
                <a:latin typeface="Times New Roman" panose="02020603050405020304" pitchFamily="18" charset="0"/>
                <a:cs typeface="Times New Roman" panose="02020603050405020304" pitchFamily="18" charset="0"/>
              </a:rPr>
              <a:t>AI-driven question generation, evaluation, and scoring</a:t>
            </a:r>
            <a:r>
              <a:rPr lang="en-US" sz="2400" dirty="0">
                <a:latin typeface="Times New Roman" panose="02020603050405020304" pitchFamily="18" charset="0"/>
                <a:cs typeface="Times New Roman" panose="02020603050405020304" pitchFamily="18" charset="0"/>
              </a:rPr>
              <a:t> into a single application.</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ECF3B8F-05F4-D4BB-03DC-7F9175AA224A}"/>
              </a:ext>
            </a:extLst>
          </p:cNvPr>
          <p:cNvSpPr>
            <a:spLocks noGrp="1"/>
          </p:cNvSpPr>
          <p:nvPr>
            <p:ph type="sldNum" sz="quarter" idx="12"/>
          </p:nvPr>
        </p:nvSpPr>
        <p:spPr/>
        <p:txBody>
          <a:bodyPr/>
          <a:lstStyle/>
          <a:p>
            <a:fld id="{519954A3-9DFD-4C44-94BA-B95130A3BA1C}" type="slidenum">
              <a:rPr lang="en-US" smtClean="0"/>
              <a:t>5</a:t>
            </a:fld>
            <a:endParaRPr lang="en-US" dirty="0"/>
          </a:p>
        </p:txBody>
      </p:sp>
      <p:cxnSp>
        <p:nvCxnSpPr>
          <p:cNvPr id="6" name="Straight Connector 5">
            <a:extLst>
              <a:ext uri="{FF2B5EF4-FFF2-40B4-BE49-F238E27FC236}">
                <a16:creationId xmlns:a16="http://schemas.microsoft.com/office/drawing/2014/main" id="{30EAAF57-A040-6B5E-4728-5DA758680232}"/>
              </a:ext>
            </a:extLst>
          </p:cNvPr>
          <p:cNvCxnSpPr>
            <a:cxnSpLocks/>
          </p:cNvCxnSpPr>
          <p:nvPr/>
        </p:nvCxnSpPr>
        <p:spPr>
          <a:xfrm>
            <a:off x="698090" y="1553497"/>
            <a:ext cx="1065571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65946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5359C-CD08-8921-842D-342ECB5BA64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AD3D5CA-D5F4-5AF7-89E1-CE5FE7C84EE2}"/>
              </a:ext>
            </a:extLst>
          </p:cNvPr>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Students lack access to a </a:t>
            </a:r>
            <a:r>
              <a:rPr lang="en-US" b="1" dirty="0">
                <a:latin typeface="Times New Roman" panose="02020603050405020304" pitchFamily="18" charset="0"/>
                <a:cs typeface="Times New Roman" panose="02020603050405020304" pitchFamily="18" charset="0"/>
              </a:rPr>
              <a:t>single integrated platform</a:t>
            </a:r>
            <a:r>
              <a:rPr lang="en-US" dirty="0">
                <a:latin typeface="Times New Roman" panose="02020603050405020304" pitchFamily="18" charset="0"/>
                <a:cs typeface="Times New Roman" panose="02020603050405020304" pitchFamily="18" charset="0"/>
              </a:rPr>
              <a:t> that provides:</a:t>
            </a:r>
          </a:p>
          <a:p>
            <a:r>
              <a:rPr lang="en-US" dirty="0">
                <a:latin typeface="Times New Roman" panose="02020603050405020304" pitchFamily="18" charset="0"/>
                <a:cs typeface="Times New Roman" panose="02020603050405020304" pitchFamily="18" charset="0"/>
              </a:rPr>
              <a:t>Realistic interview simulations</a:t>
            </a:r>
          </a:p>
          <a:p>
            <a:r>
              <a:rPr lang="en-US" dirty="0">
                <a:latin typeface="Times New Roman" panose="02020603050405020304" pitchFamily="18" charset="0"/>
                <a:cs typeface="Times New Roman" panose="02020603050405020304" pitchFamily="18" charset="0"/>
              </a:rPr>
              <a:t>Live coding practice with evaluation</a:t>
            </a:r>
          </a:p>
          <a:p>
            <a:r>
              <a:rPr lang="en-US" dirty="0">
                <a:latin typeface="Times New Roman" panose="02020603050405020304" pitchFamily="18" charset="0"/>
                <a:cs typeface="Times New Roman" panose="02020603050405020304" pitchFamily="18" charset="0"/>
              </a:rPr>
              <a:t>Personalized feedback and performance analysis</a:t>
            </a:r>
          </a:p>
          <a:p>
            <a:pPr marL="0" indent="0">
              <a:buNone/>
            </a:pPr>
            <a:r>
              <a:rPr lang="en-US" dirty="0">
                <a:latin typeface="Times New Roman" panose="02020603050405020304" pitchFamily="18" charset="0"/>
                <a:cs typeface="Times New Roman" panose="02020603050405020304" pitchFamily="18" charset="0"/>
              </a:rPr>
              <a:t>Existing solutions do not combine </a:t>
            </a:r>
            <a:r>
              <a:rPr lang="en-US" b="1" dirty="0">
                <a:latin typeface="Times New Roman" panose="02020603050405020304" pitchFamily="18" charset="0"/>
                <a:cs typeface="Times New Roman" panose="02020603050405020304" pitchFamily="18" charset="0"/>
              </a:rPr>
              <a:t>HR, Behavioral, and Technical interviews</a:t>
            </a:r>
            <a:r>
              <a:rPr lang="en-US" dirty="0">
                <a:latin typeface="Times New Roman" panose="02020603050405020304" pitchFamily="18" charset="0"/>
                <a:cs typeface="Times New Roman" panose="02020603050405020304" pitchFamily="18" charset="0"/>
              </a:rPr>
              <a:t> with </a:t>
            </a:r>
            <a:r>
              <a:rPr lang="en-US" b="1" dirty="0">
                <a:latin typeface="Times New Roman" panose="02020603050405020304" pitchFamily="18" charset="0"/>
                <a:cs typeface="Times New Roman" panose="02020603050405020304" pitchFamily="18" charset="0"/>
              </a:rPr>
              <a:t>AI-based assessment</a:t>
            </a:r>
            <a:r>
              <a:rPr lang="en-US" dirty="0">
                <a:latin typeface="Times New Roman" panose="02020603050405020304" pitchFamily="18" charset="0"/>
                <a:cs typeface="Times New Roman" panose="02020603050405020304" pitchFamily="18" charset="0"/>
              </a:rPr>
              <a:t>, making interview preparation fragmented and inefficient.</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1CBA476-A7BA-B277-D5F4-A8291C4A6BD9}"/>
              </a:ext>
            </a:extLst>
          </p:cNvPr>
          <p:cNvSpPr>
            <a:spLocks noGrp="1"/>
          </p:cNvSpPr>
          <p:nvPr>
            <p:ph type="sldNum" sz="quarter" idx="12"/>
          </p:nvPr>
        </p:nvSpPr>
        <p:spPr/>
        <p:txBody>
          <a:bodyPr/>
          <a:lstStyle/>
          <a:p>
            <a:fld id="{519954A3-9DFD-4C44-94BA-B95130A3BA1C}" type="slidenum">
              <a:rPr lang="en-US" smtClean="0"/>
              <a:t>6</a:t>
            </a:fld>
            <a:endParaRPr lang="en-US" dirty="0"/>
          </a:p>
        </p:txBody>
      </p:sp>
      <p:cxnSp>
        <p:nvCxnSpPr>
          <p:cNvPr id="6" name="Straight Connector 5">
            <a:extLst>
              <a:ext uri="{FF2B5EF4-FFF2-40B4-BE49-F238E27FC236}">
                <a16:creationId xmlns:a16="http://schemas.microsoft.com/office/drawing/2014/main" id="{367FACDD-4DD8-8C2F-048A-E9823A006BC0}"/>
              </a:ext>
            </a:extLst>
          </p:cNvPr>
          <p:cNvCxnSpPr>
            <a:cxnSpLocks/>
          </p:cNvCxnSpPr>
          <p:nvPr/>
        </p:nvCxnSpPr>
        <p:spPr>
          <a:xfrm>
            <a:off x="747252" y="1582994"/>
            <a:ext cx="10314038"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99175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BCB52-D016-690D-694C-958D71FBD28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Objectives</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1BEF3DD-2487-55AE-18C3-0333996D1671}"/>
              </a:ext>
            </a:extLst>
          </p:cNvPr>
          <p:cNvSpPr>
            <a:spLocks noGrp="1"/>
          </p:cNvSpPr>
          <p:nvPr>
            <p:ph type="sldNum" sz="quarter" idx="12"/>
          </p:nvPr>
        </p:nvSpPr>
        <p:spPr/>
        <p:txBody>
          <a:bodyPr/>
          <a:lstStyle/>
          <a:p>
            <a:fld id="{519954A3-9DFD-4C44-94BA-B95130A3BA1C}" type="slidenum">
              <a:rPr lang="en-US" smtClean="0"/>
              <a:t>7</a:t>
            </a:fld>
            <a:endParaRPr lang="en-US" dirty="0"/>
          </a:p>
        </p:txBody>
      </p:sp>
      <p:sp>
        <p:nvSpPr>
          <p:cNvPr id="5" name="Rectangle 1">
            <a:extLst>
              <a:ext uri="{FF2B5EF4-FFF2-40B4-BE49-F238E27FC236}">
                <a16:creationId xmlns:a16="http://schemas.microsoft.com/office/drawing/2014/main" id="{3440056D-045A-F3D0-C286-5E551E738105}"/>
              </a:ext>
            </a:extLst>
          </p:cNvPr>
          <p:cNvSpPr>
            <a:spLocks noGrp="1" noChangeArrowheads="1"/>
          </p:cNvSpPr>
          <p:nvPr>
            <p:ph idx="1"/>
          </p:nvPr>
        </p:nvSpPr>
        <p:spPr bwMode="auto">
          <a:xfrm>
            <a:off x="838200" y="1921204"/>
            <a:ext cx="902202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simulate real-time interview environments</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generate interview questions dynamically using AI</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live coding practice with evaluation</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analyze answers and provide structured feedback</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generate scorecards for performance tracking</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enhance interview confidence and readiness</a:t>
            </a:r>
          </a:p>
        </p:txBody>
      </p:sp>
      <p:cxnSp>
        <p:nvCxnSpPr>
          <p:cNvPr id="7" name="Straight Connector 6">
            <a:extLst>
              <a:ext uri="{FF2B5EF4-FFF2-40B4-BE49-F238E27FC236}">
                <a16:creationId xmlns:a16="http://schemas.microsoft.com/office/drawing/2014/main" id="{28F3E3BB-7E28-DEA5-487B-636BEEBF62EA}"/>
              </a:ext>
            </a:extLst>
          </p:cNvPr>
          <p:cNvCxnSpPr>
            <a:cxnSpLocks/>
          </p:cNvCxnSpPr>
          <p:nvPr/>
        </p:nvCxnSpPr>
        <p:spPr>
          <a:xfrm>
            <a:off x="838200" y="1690688"/>
            <a:ext cx="10301748"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43999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1DD2B-39E9-FEA4-FA1A-8020251C4A0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Functional Requirements</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D01671F-007B-EA05-8138-E236D758C10D}"/>
              </a:ext>
            </a:extLst>
          </p:cNvPr>
          <p:cNvSpPr>
            <a:spLocks noGrp="1"/>
          </p:cNvSpPr>
          <p:nvPr>
            <p:ph type="sldNum" sz="quarter" idx="12"/>
          </p:nvPr>
        </p:nvSpPr>
        <p:spPr/>
        <p:txBody>
          <a:bodyPr/>
          <a:lstStyle/>
          <a:p>
            <a:fld id="{519954A3-9DFD-4C44-94BA-B95130A3BA1C}" type="slidenum">
              <a:rPr lang="en-US" smtClean="0"/>
              <a:t>8</a:t>
            </a:fld>
            <a:endParaRPr lang="en-US" dirty="0"/>
          </a:p>
        </p:txBody>
      </p:sp>
      <p:sp>
        <p:nvSpPr>
          <p:cNvPr id="5" name="Rectangle 1">
            <a:extLst>
              <a:ext uri="{FF2B5EF4-FFF2-40B4-BE49-F238E27FC236}">
                <a16:creationId xmlns:a16="http://schemas.microsoft.com/office/drawing/2014/main" id="{D47DBA72-3BB3-4F0F-6648-BFE741DA23FC}"/>
              </a:ext>
            </a:extLst>
          </p:cNvPr>
          <p:cNvSpPr>
            <a:spLocks noGrp="1" noChangeArrowheads="1"/>
          </p:cNvSpPr>
          <p:nvPr>
            <p:ph idx="1"/>
          </p:nvPr>
        </p:nvSpPr>
        <p:spPr bwMode="auto">
          <a:xfrm>
            <a:off x="838200" y="1874728"/>
            <a:ext cx="70888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selection of job role and interview type</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AI-generated interview questions</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Live code editor for technical interviews</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Time-bound coding rounds</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answer evaluation</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Score generation and feedback display</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Interview reset and session management</a:t>
            </a:r>
          </a:p>
        </p:txBody>
      </p:sp>
      <p:cxnSp>
        <p:nvCxnSpPr>
          <p:cNvPr id="7" name="Straight Connector 6">
            <a:extLst>
              <a:ext uri="{FF2B5EF4-FFF2-40B4-BE49-F238E27FC236}">
                <a16:creationId xmlns:a16="http://schemas.microsoft.com/office/drawing/2014/main" id="{B7DDFCE0-45B0-C424-AD01-444F40E5FBFB}"/>
              </a:ext>
            </a:extLst>
          </p:cNvPr>
          <p:cNvCxnSpPr>
            <a:cxnSpLocks/>
          </p:cNvCxnSpPr>
          <p:nvPr/>
        </p:nvCxnSpPr>
        <p:spPr>
          <a:xfrm>
            <a:off x="838200" y="1690688"/>
            <a:ext cx="1004611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5250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55527-ED20-97A4-6703-106E372FD57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Non-Functional Requirements</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C4A0032-FE45-AF5E-A590-3C2B04107D6F}"/>
              </a:ext>
            </a:extLst>
          </p:cNvPr>
          <p:cNvSpPr>
            <a:spLocks noGrp="1"/>
          </p:cNvSpPr>
          <p:nvPr>
            <p:ph type="sldNum" sz="quarter" idx="12"/>
          </p:nvPr>
        </p:nvSpPr>
        <p:spPr/>
        <p:txBody>
          <a:bodyPr/>
          <a:lstStyle/>
          <a:p>
            <a:fld id="{519954A3-9DFD-4C44-94BA-B95130A3BA1C}" type="slidenum">
              <a:rPr lang="en-US" smtClean="0"/>
              <a:t>9</a:t>
            </a:fld>
            <a:endParaRPr lang="en-US" dirty="0"/>
          </a:p>
        </p:txBody>
      </p:sp>
      <p:sp>
        <p:nvSpPr>
          <p:cNvPr id="5" name="Rectangle 1">
            <a:extLst>
              <a:ext uri="{FF2B5EF4-FFF2-40B4-BE49-F238E27FC236}">
                <a16:creationId xmlns:a16="http://schemas.microsoft.com/office/drawing/2014/main" id="{B1483AD6-4092-320F-BD43-FC1A82DC5850}"/>
              </a:ext>
            </a:extLst>
          </p:cNvPr>
          <p:cNvSpPr>
            <a:spLocks noGrp="1" noChangeArrowheads="1"/>
          </p:cNvSpPr>
          <p:nvPr>
            <p:ph idx="1"/>
          </p:nvPr>
        </p:nvSpPr>
        <p:spPr bwMode="auto">
          <a:xfrm>
            <a:off x="838200" y="1943846"/>
            <a:ext cx="77724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 interface</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 response time</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API key handling</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 for multiple users</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availability and reliability</a:t>
            </a:r>
          </a:p>
        </p:txBody>
      </p:sp>
      <p:cxnSp>
        <p:nvCxnSpPr>
          <p:cNvPr id="7" name="Straight Connector 6">
            <a:extLst>
              <a:ext uri="{FF2B5EF4-FFF2-40B4-BE49-F238E27FC236}">
                <a16:creationId xmlns:a16="http://schemas.microsoft.com/office/drawing/2014/main" id="{5C4C5939-6E14-38ED-834B-87F05001AB3B}"/>
              </a:ext>
            </a:extLst>
          </p:cNvPr>
          <p:cNvCxnSpPr/>
          <p:nvPr/>
        </p:nvCxnSpPr>
        <p:spPr>
          <a:xfrm>
            <a:off x="838200" y="1690688"/>
            <a:ext cx="10409903"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69928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06C25-0A27-72BF-8900-5E703BBB07E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Hardware Requirements</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4E541DF-37C8-56C2-4044-EE92C8521A44}"/>
              </a:ext>
            </a:extLst>
          </p:cNvPr>
          <p:cNvSpPr>
            <a:spLocks noGrp="1"/>
          </p:cNvSpPr>
          <p:nvPr>
            <p:ph type="sldNum" sz="quarter" idx="12"/>
          </p:nvPr>
        </p:nvSpPr>
        <p:spPr/>
        <p:txBody>
          <a:bodyPr/>
          <a:lstStyle/>
          <a:p>
            <a:fld id="{519954A3-9DFD-4C44-94BA-B95130A3BA1C}" type="slidenum">
              <a:rPr lang="en-US" smtClean="0"/>
              <a:t>10</a:t>
            </a:fld>
            <a:endParaRPr lang="en-US" dirty="0"/>
          </a:p>
        </p:txBody>
      </p:sp>
      <p:sp>
        <p:nvSpPr>
          <p:cNvPr id="5" name="Rectangle 1">
            <a:extLst>
              <a:ext uri="{FF2B5EF4-FFF2-40B4-BE49-F238E27FC236}">
                <a16:creationId xmlns:a16="http://schemas.microsoft.com/office/drawing/2014/main" id="{6A28490C-2CC6-A3BB-2E47-093BDF0A16CF}"/>
              </a:ext>
            </a:extLst>
          </p:cNvPr>
          <p:cNvSpPr>
            <a:spLocks noGrp="1" noChangeArrowheads="1"/>
          </p:cNvSpPr>
          <p:nvPr>
            <p:ph idx="1"/>
          </p:nvPr>
        </p:nvSpPr>
        <p:spPr bwMode="auto">
          <a:xfrm>
            <a:off x="916858" y="1759569"/>
            <a:ext cx="6378677" cy="1953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None/>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Processor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Intel i3 or above</a:t>
            </a:r>
          </a:p>
          <a:p>
            <a:pPr marL="0" indent="0" eaLnBrk="0" fontAlgn="base" hangingPunct="0">
              <a:lnSpc>
                <a:spcPct val="150000"/>
              </a:lnSpc>
              <a:spcBef>
                <a:spcPct val="0"/>
              </a:spcBef>
              <a:spcAft>
                <a:spcPct val="0"/>
              </a:spcAft>
              <a:buNone/>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Minimum 8 GB</a:t>
            </a:r>
          </a:p>
          <a:p>
            <a:pPr marL="0" indent="0" eaLnBrk="0" fontAlgn="base" hangingPunct="0">
              <a:lnSpc>
                <a:spcPct val="150000"/>
              </a:lnSpc>
              <a:spcBef>
                <a:spcPct val="0"/>
              </a:spcBef>
              <a:spcAft>
                <a:spcPct val="0"/>
              </a:spcAft>
              <a:buNone/>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10 GB free space</a:t>
            </a:r>
          </a:p>
        </p:txBody>
      </p:sp>
      <p:cxnSp>
        <p:nvCxnSpPr>
          <p:cNvPr id="7" name="Straight Connector 6">
            <a:extLst>
              <a:ext uri="{FF2B5EF4-FFF2-40B4-BE49-F238E27FC236}">
                <a16:creationId xmlns:a16="http://schemas.microsoft.com/office/drawing/2014/main" id="{E9883B5B-46CE-E70E-7B9B-C404611FD6DE}"/>
              </a:ext>
            </a:extLst>
          </p:cNvPr>
          <p:cNvCxnSpPr>
            <a:cxnSpLocks/>
          </p:cNvCxnSpPr>
          <p:nvPr/>
        </p:nvCxnSpPr>
        <p:spPr>
          <a:xfrm>
            <a:off x="838200" y="1690688"/>
            <a:ext cx="10400071"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40315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17422-C5DB-72C1-023F-05AA9F8271D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Software Requirements</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A019CDF-FA0F-134C-1BD5-3B53BA3E436A}"/>
              </a:ext>
            </a:extLst>
          </p:cNvPr>
          <p:cNvSpPr>
            <a:spLocks noGrp="1"/>
          </p:cNvSpPr>
          <p:nvPr>
            <p:ph type="sldNum" sz="quarter" idx="12"/>
          </p:nvPr>
        </p:nvSpPr>
        <p:spPr/>
        <p:txBody>
          <a:bodyPr/>
          <a:lstStyle/>
          <a:p>
            <a:fld id="{519954A3-9DFD-4C44-94BA-B95130A3BA1C}" type="slidenum">
              <a:rPr lang="en-US" smtClean="0"/>
              <a:t>11</a:t>
            </a:fld>
            <a:endParaRPr lang="en-US" dirty="0"/>
          </a:p>
        </p:txBody>
      </p:sp>
      <p:sp>
        <p:nvSpPr>
          <p:cNvPr id="5" name="Rectangle 1">
            <a:extLst>
              <a:ext uri="{FF2B5EF4-FFF2-40B4-BE49-F238E27FC236}">
                <a16:creationId xmlns:a16="http://schemas.microsoft.com/office/drawing/2014/main" id="{C2358973-7C18-3BEB-E24B-A14D4CC83A63}"/>
              </a:ext>
            </a:extLst>
          </p:cNvPr>
          <p:cNvSpPr>
            <a:spLocks noGrp="1" noChangeArrowheads="1"/>
          </p:cNvSpPr>
          <p:nvPr>
            <p:ph idx="1"/>
          </p:nvPr>
        </p:nvSpPr>
        <p:spPr bwMode="auto">
          <a:xfrm>
            <a:off x="838200" y="1805735"/>
            <a:ext cx="6906058" cy="3246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Operating System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Windows / Linux / macOS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Programming Language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 3.10/above</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Framework</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OpenAI SDK,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-ACE</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OpenAI GPT models</a:t>
            </a:r>
          </a:p>
        </p:txBody>
      </p:sp>
      <p:cxnSp>
        <p:nvCxnSpPr>
          <p:cNvPr id="7" name="Straight Connector 6">
            <a:extLst>
              <a:ext uri="{FF2B5EF4-FFF2-40B4-BE49-F238E27FC236}">
                <a16:creationId xmlns:a16="http://schemas.microsoft.com/office/drawing/2014/main" id="{B19C1879-7FEB-4B37-CCE5-41AA7E9ABDA3}"/>
              </a:ext>
            </a:extLst>
          </p:cNvPr>
          <p:cNvCxnSpPr>
            <a:cxnSpLocks/>
          </p:cNvCxnSpPr>
          <p:nvPr/>
        </p:nvCxnSpPr>
        <p:spPr>
          <a:xfrm>
            <a:off x="838200" y="1690688"/>
            <a:ext cx="10164097"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55097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ABD6E-F4AC-FD69-AFDA-0CB36D80809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Proposed Methodology</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6F766AB-B91D-A959-00AB-C918B2A1A2FF}"/>
              </a:ext>
            </a:extLst>
          </p:cNvPr>
          <p:cNvSpPr>
            <a:spLocks noGrp="1"/>
          </p:cNvSpPr>
          <p:nvPr>
            <p:ph type="sldNum" sz="quarter" idx="12"/>
          </p:nvPr>
        </p:nvSpPr>
        <p:spPr/>
        <p:txBody>
          <a:bodyPr/>
          <a:lstStyle/>
          <a:p>
            <a:fld id="{519954A3-9DFD-4C44-94BA-B95130A3BA1C}" type="slidenum">
              <a:rPr lang="en-US" smtClean="0"/>
              <a:t>12</a:t>
            </a:fld>
            <a:endParaRPr lang="en-US" dirty="0"/>
          </a:p>
        </p:txBody>
      </p:sp>
      <p:sp>
        <p:nvSpPr>
          <p:cNvPr id="5" name="Rectangle 1">
            <a:extLst>
              <a:ext uri="{FF2B5EF4-FFF2-40B4-BE49-F238E27FC236}">
                <a16:creationId xmlns:a16="http://schemas.microsoft.com/office/drawing/2014/main" id="{04E0BD06-8F5A-70B3-6FBF-60A189846938}"/>
              </a:ext>
            </a:extLst>
          </p:cNvPr>
          <p:cNvSpPr>
            <a:spLocks noGrp="1" noChangeArrowheads="1"/>
          </p:cNvSpPr>
          <p:nvPr>
            <p:ph idx="1"/>
          </p:nvPr>
        </p:nvSpPr>
        <p:spPr bwMode="auto">
          <a:xfrm>
            <a:off x="838200" y="1934854"/>
            <a:ext cx="9428222" cy="3892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selects job role, interview type, difficulty, and language</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generates interview questions dynamically</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submits textual or coding answers</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evaluates responses using predefined prompts</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Scores and feedback are generated</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scorecard is displayed after interview completion</a:t>
            </a:r>
          </a:p>
        </p:txBody>
      </p:sp>
      <p:cxnSp>
        <p:nvCxnSpPr>
          <p:cNvPr id="7" name="Straight Connector 6">
            <a:extLst>
              <a:ext uri="{FF2B5EF4-FFF2-40B4-BE49-F238E27FC236}">
                <a16:creationId xmlns:a16="http://schemas.microsoft.com/office/drawing/2014/main" id="{72B8DBAA-A168-0A57-60CF-478A40866E60}"/>
              </a:ext>
            </a:extLst>
          </p:cNvPr>
          <p:cNvCxnSpPr/>
          <p:nvPr/>
        </p:nvCxnSpPr>
        <p:spPr>
          <a:xfrm>
            <a:off x="838200" y="1690688"/>
            <a:ext cx="10105103"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69782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F3931-A7FB-4383-01AF-34E7C2A2F870}"/>
              </a:ext>
            </a:extLst>
          </p:cNvPr>
          <p:cNvSpPr>
            <a:spLocks noGrp="1"/>
          </p:cNvSpPr>
          <p:nvPr>
            <p:ph type="title"/>
          </p:nvPr>
        </p:nvSpPr>
        <p:spPr>
          <a:xfrm>
            <a:off x="907026" y="193214"/>
            <a:ext cx="10515600" cy="786580"/>
          </a:xfrm>
        </p:spPr>
        <p:txBody>
          <a:bodyPr/>
          <a:lstStyle/>
          <a:p>
            <a:r>
              <a:rPr lang="en-US" dirty="0">
                <a:latin typeface="Times New Roman" panose="02020603050405020304" pitchFamily="18" charset="0"/>
                <a:cs typeface="Times New Roman" panose="02020603050405020304" pitchFamily="18" charset="0"/>
              </a:rPr>
              <a:t>System Architecture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8DBBF47-AF36-98B3-BEB3-A36FA4BA71A8}"/>
              </a:ext>
            </a:extLst>
          </p:cNvPr>
          <p:cNvSpPr>
            <a:spLocks noGrp="1"/>
          </p:cNvSpPr>
          <p:nvPr>
            <p:ph idx="1"/>
          </p:nvPr>
        </p:nvSpPr>
        <p:spPr>
          <a:xfrm>
            <a:off x="891048" y="1492403"/>
            <a:ext cx="10515600" cy="4351338"/>
          </a:xfrm>
        </p:spPr>
        <p:txBody>
          <a:bodyPr>
            <a:normAutofit/>
          </a:bodyPr>
          <a:lstStyle/>
          <a:p>
            <a:pPr marL="0" indent="0">
              <a:buNone/>
            </a:pPr>
            <a:r>
              <a:rPr lang="en-IN" sz="2200" dirty="0">
                <a:latin typeface="Times New Roman" panose="02020603050405020304" pitchFamily="18" charset="0"/>
                <a:cs typeface="Times New Roman" panose="02020603050405020304" pitchFamily="18" charset="0"/>
              </a:rPr>
              <a:t>The system follows a </a:t>
            </a:r>
            <a:r>
              <a:rPr lang="en-IN" sz="2200" b="1" dirty="0">
                <a:latin typeface="Times New Roman" panose="02020603050405020304" pitchFamily="18" charset="0"/>
                <a:cs typeface="Times New Roman" panose="02020603050405020304" pitchFamily="18" charset="0"/>
              </a:rPr>
              <a:t>client–server architecture</a:t>
            </a:r>
            <a:r>
              <a:rPr lang="en-IN" sz="2200" dirty="0">
                <a:latin typeface="Times New Roman" panose="02020603050405020304" pitchFamily="18" charset="0"/>
                <a:cs typeface="Times New Roman" panose="02020603050405020304" pitchFamily="18" charset="0"/>
              </a:rPr>
              <a:t>:</a:t>
            </a:r>
          </a:p>
          <a:p>
            <a:r>
              <a:rPr lang="en-IN" sz="2200" b="1" dirty="0">
                <a:latin typeface="Times New Roman" panose="02020603050405020304" pitchFamily="18" charset="0"/>
                <a:cs typeface="Times New Roman" panose="02020603050405020304" pitchFamily="18" charset="0"/>
              </a:rPr>
              <a:t>Frontend</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Streamlit</a:t>
            </a:r>
            <a:r>
              <a:rPr lang="en-IN" sz="2200" dirty="0">
                <a:latin typeface="Times New Roman" panose="02020603050405020304" pitchFamily="18" charset="0"/>
                <a:cs typeface="Times New Roman" panose="02020603050405020304" pitchFamily="18" charset="0"/>
              </a:rPr>
              <a:t> UI for interaction</a:t>
            </a:r>
          </a:p>
          <a:p>
            <a:r>
              <a:rPr lang="en-IN" sz="2200" b="1" dirty="0">
                <a:latin typeface="Times New Roman" panose="02020603050405020304" pitchFamily="18" charset="0"/>
                <a:cs typeface="Times New Roman" panose="02020603050405020304" pitchFamily="18" charset="0"/>
              </a:rPr>
              <a:t>Backend</a:t>
            </a:r>
            <a:r>
              <a:rPr lang="en-IN" sz="2200" dirty="0">
                <a:latin typeface="Times New Roman" panose="02020603050405020304" pitchFamily="18" charset="0"/>
                <a:cs typeface="Times New Roman" panose="02020603050405020304" pitchFamily="18" charset="0"/>
              </a:rPr>
              <a:t>: Python logic for session management</a:t>
            </a:r>
          </a:p>
          <a:p>
            <a:r>
              <a:rPr lang="en-IN" sz="2200" b="1" dirty="0">
                <a:latin typeface="Times New Roman" panose="02020603050405020304" pitchFamily="18" charset="0"/>
                <a:cs typeface="Times New Roman" panose="02020603050405020304" pitchFamily="18" charset="0"/>
              </a:rPr>
              <a:t>AI Engine</a:t>
            </a:r>
            <a:r>
              <a:rPr lang="en-IN" sz="2200" dirty="0">
                <a:latin typeface="Times New Roman" panose="02020603050405020304" pitchFamily="18" charset="0"/>
                <a:cs typeface="Times New Roman" panose="02020603050405020304" pitchFamily="18" charset="0"/>
              </a:rPr>
              <a:t>: OpenAI GPT models for generation and evaluation</a:t>
            </a:r>
          </a:p>
          <a:p>
            <a:r>
              <a:rPr lang="en-IN" sz="2200" b="1" dirty="0">
                <a:latin typeface="Times New Roman" panose="02020603050405020304" pitchFamily="18" charset="0"/>
                <a:cs typeface="Times New Roman" panose="02020603050405020304" pitchFamily="18" charset="0"/>
              </a:rPr>
              <a:t>Editor</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Streamlit</a:t>
            </a:r>
            <a:r>
              <a:rPr lang="en-IN" sz="2200" dirty="0">
                <a:latin typeface="Times New Roman" panose="02020603050405020304" pitchFamily="18" charset="0"/>
                <a:cs typeface="Times New Roman" panose="02020603050405020304" pitchFamily="18" charset="0"/>
              </a:rPr>
              <a:t> ACE for live coding</a:t>
            </a:r>
          </a:p>
          <a:p>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11061C4-59D7-189D-40E1-DF759D1F53CA}"/>
              </a:ext>
            </a:extLst>
          </p:cNvPr>
          <p:cNvSpPr>
            <a:spLocks noGrp="1"/>
          </p:cNvSpPr>
          <p:nvPr>
            <p:ph type="sldNum" sz="quarter" idx="12"/>
          </p:nvPr>
        </p:nvSpPr>
        <p:spPr/>
        <p:txBody>
          <a:bodyPr/>
          <a:lstStyle/>
          <a:p>
            <a:fld id="{519954A3-9DFD-4C44-94BA-B95130A3BA1C}" type="slidenum">
              <a:rPr lang="en-US" smtClean="0"/>
              <a:t>13</a:t>
            </a:fld>
            <a:endParaRPr lang="en-US" dirty="0"/>
          </a:p>
        </p:txBody>
      </p:sp>
      <p:cxnSp>
        <p:nvCxnSpPr>
          <p:cNvPr id="6" name="Straight Connector 5">
            <a:extLst>
              <a:ext uri="{FF2B5EF4-FFF2-40B4-BE49-F238E27FC236}">
                <a16:creationId xmlns:a16="http://schemas.microsoft.com/office/drawing/2014/main" id="{FE48C98E-4A1A-A783-A709-5FE4938DA5EC}"/>
              </a:ext>
            </a:extLst>
          </p:cNvPr>
          <p:cNvCxnSpPr/>
          <p:nvPr/>
        </p:nvCxnSpPr>
        <p:spPr>
          <a:xfrm>
            <a:off x="891048" y="1169578"/>
            <a:ext cx="10409903"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9FCCA340-B6AF-7D5E-B716-2E4F6A0409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4124" y="1359363"/>
            <a:ext cx="2240915" cy="4996983"/>
          </a:xfrm>
          <a:prstGeom prst="rect">
            <a:avLst/>
          </a:prstGeom>
        </p:spPr>
      </p:pic>
    </p:spTree>
    <p:extLst>
      <p:ext uri="{BB962C8B-B14F-4D97-AF65-F5344CB8AC3E}">
        <p14:creationId xmlns:p14="http://schemas.microsoft.com/office/powerpoint/2010/main" val="3721830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FBA2E-BBA3-7F6A-2EE5-D47F3DC7427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Class Diagram</a:t>
            </a:r>
          </a:p>
        </p:txBody>
      </p:sp>
      <p:sp>
        <p:nvSpPr>
          <p:cNvPr id="4" name="Slide Number Placeholder 3">
            <a:extLst>
              <a:ext uri="{FF2B5EF4-FFF2-40B4-BE49-F238E27FC236}">
                <a16:creationId xmlns:a16="http://schemas.microsoft.com/office/drawing/2014/main" id="{2107D771-6E18-3D8F-0C9D-8BC9434F3FCB}"/>
              </a:ext>
            </a:extLst>
          </p:cNvPr>
          <p:cNvSpPr>
            <a:spLocks noGrp="1"/>
          </p:cNvSpPr>
          <p:nvPr>
            <p:ph type="sldNum" sz="quarter" idx="12"/>
          </p:nvPr>
        </p:nvSpPr>
        <p:spPr/>
        <p:txBody>
          <a:bodyPr/>
          <a:lstStyle/>
          <a:p>
            <a:fld id="{519954A3-9DFD-4C44-94BA-B95130A3BA1C}" type="slidenum">
              <a:rPr lang="en-US" smtClean="0"/>
              <a:t>14</a:t>
            </a:fld>
            <a:endParaRPr lang="en-US" dirty="0"/>
          </a:p>
        </p:txBody>
      </p:sp>
      <p:cxnSp>
        <p:nvCxnSpPr>
          <p:cNvPr id="10" name="Straight Connector 9">
            <a:extLst>
              <a:ext uri="{FF2B5EF4-FFF2-40B4-BE49-F238E27FC236}">
                <a16:creationId xmlns:a16="http://schemas.microsoft.com/office/drawing/2014/main" id="{22C3904D-11C4-7131-8002-49ABA0F5B4AC}"/>
              </a:ext>
            </a:extLst>
          </p:cNvPr>
          <p:cNvCxnSpPr/>
          <p:nvPr/>
        </p:nvCxnSpPr>
        <p:spPr>
          <a:xfrm>
            <a:off x="838200" y="1423164"/>
            <a:ext cx="10272104"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pic>
        <p:nvPicPr>
          <p:cNvPr id="8" name="Content Placeholder 7">
            <a:extLst>
              <a:ext uri="{FF2B5EF4-FFF2-40B4-BE49-F238E27FC236}">
                <a16:creationId xmlns:a16="http://schemas.microsoft.com/office/drawing/2014/main" id="{7873E973-599D-A6CE-C91F-D023999F6E51}"/>
              </a:ext>
            </a:extLst>
          </p:cNvPr>
          <p:cNvPicPr>
            <a:picLocks noGrp="1" noChangeAspect="1"/>
          </p:cNvPicPr>
          <p:nvPr>
            <p:ph idx="1"/>
          </p:nvPr>
        </p:nvPicPr>
        <p:blipFill>
          <a:blip r:embed="rId2"/>
          <a:stretch>
            <a:fillRect/>
          </a:stretch>
        </p:blipFill>
        <p:spPr>
          <a:xfrm>
            <a:off x="3195485" y="1825624"/>
            <a:ext cx="5198022" cy="4742323"/>
          </a:xfrm>
        </p:spPr>
      </p:pic>
    </p:spTree>
    <p:extLst>
      <p:ext uri="{BB962C8B-B14F-4D97-AF65-F5344CB8AC3E}">
        <p14:creationId xmlns:p14="http://schemas.microsoft.com/office/powerpoint/2010/main" val="3637603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C681F-3CB6-EFB6-53C9-95504CB13064}"/>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Sequence Diagram </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4FA203A-5FA1-95E6-C8FF-8A6F57D47860}"/>
              </a:ext>
            </a:extLst>
          </p:cNvPr>
          <p:cNvSpPr>
            <a:spLocks noGrp="1"/>
          </p:cNvSpPr>
          <p:nvPr>
            <p:ph type="sldNum" sz="quarter" idx="12"/>
          </p:nvPr>
        </p:nvSpPr>
        <p:spPr/>
        <p:txBody>
          <a:bodyPr/>
          <a:lstStyle/>
          <a:p>
            <a:fld id="{519954A3-9DFD-4C44-94BA-B95130A3BA1C}" type="slidenum">
              <a:rPr lang="en-US" smtClean="0"/>
              <a:t>15</a:t>
            </a:fld>
            <a:endParaRPr lang="en-US" dirty="0"/>
          </a:p>
        </p:txBody>
      </p:sp>
      <p:pic>
        <p:nvPicPr>
          <p:cNvPr id="8" name="Content Placeholder 7">
            <a:extLst>
              <a:ext uri="{FF2B5EF4-FFF2-40B4-BE49-F238E27FC236}">
                <a16:creationId xmlns:a16="http://schemas.microsoft.com/office/drawing/2014/main" id="{1B9B8600-59B6-224A-D6EA-68B15688D6D9}"/>
              </a:ext>
            </a:extLst>
          </p:cNvPr>
          <p:cNvPicPr>
            <a:picLocks noGrp="1" noChangeAspect="1"/>
          </p:cNvPicPr>
          <p:nvPr>
            <p:ph idx="1"/>
          </p:nvPr>
        </p:nvPicPr>
        <p:blipFill>
          <a:blip r:embed="rId2"/>
          <a:stretch>
            <a:fillRect/>
          </a:stretch>
        </p:blipFill>
        <p:spPr bwMode="auto">
          <a:xfrm>
            <a:off x="2792040" y="1759131"/>
            <a:ext cx="6607920" cy="4417832"/>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5530DC74-E32E-61B9-3FA5-0526B0F53D6F}"/>
              </a:ext>
            </a:extLst>
          </p:cNvPr>
          <p:cNvCxnSpPr/>
          <p:nvPr/>
        </p:nvCxnSpPr>
        <p:spPr>
          <a:xfrm>
            <a:off x="838200" y="1347537"/>
            <a:ext cx="959833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183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27597-50DC-B96C-E435-AA50042B9C4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Activity Diagram</a:t>
            </a:r>
            <a:endParaRPr lang="en-IN"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050B164F-8533-D370-453F-18401CE3F6F9}"/>
              </a:ext>
            </a:extLst>
          </p:cNvPr>
          <p:cNvPicPr>
            <a:picLocks noGrp="1" noChangeAspect="1"/>
          </p:cNvPicPr>
          <p:nvPr>
            <p:ph idx="1"/>
          </p:nvPr>
        </p:nvPicPr>
        <p:blipFill>
          <a:blip r:embed="rId2"/>
          <a:stretch>
            <a:fillRect/>
          </a:stretch>
        </p:blipFill>
        <p:spPr>
          <a:xfrm>
            <a:off x="2188001" y="1665287"/>
            <a:ext cx="6661029" cy="4873625"/>
          </a:xfrm>
          <a:prstGeom prst="rect">
            <a:avLst/>
          </a:prstGeom>
        </p:spPr>
      </p:pic>
      <p:sp>
        <p:nvSpPr>
          <p:cNvPr id="4" name="Slide Number Placeholder 3">
            <a:extLst>
              <a:ext uri="{FF2B5EF4-FFF2-40B4-BE49-F238E27FC236}">
                <a16:creationId xmlns:a16="http://schemas.microsoft.com/office/drawing/2014/main" id="{47AEFC8E-B2BA-C125-08C1-DD786D420579}"/>
              </a:ext>
            </a:extLst>
          </p:cNvPr>
          <p:cNvSpPr>
            <a:spLocks noGrp="1"/>
          </p:cNvSpPr>
          <p:nvPr>
            <p:ph type="sldNum" sz="quarter" idx="12"/>
          </p:nvPr>
        </p:nvSpPr>
        <p:spPr/>
        <p:txBody>
          <a:bodyPr/>
          <a:lstStyle/>
          <a:p>
            <a:fld id="{519954A3-9DFD-4C44-94BA-B95130A3BA1C}" type="slidenum">
              <a:rPr lang="en-US" smtClean="0"/>
              <a:t>16</a:t>
            </a:fld>
            <a:endParaRPr lang="en-US" dirty="0"/>
          </a:p>
        </p:txBody>
      </p:sp>
      <p:cxnSp>
        <p:nvCxnSpPr>
          <p:cNvPr id="8" name="Straight Connector 7">
            <a:extLst>
              <a:ext uri="{FF2B5EF4-FFF2-40B4-BE49-F238E27FC236}">
                <a16:creationId xmlns:a16="http://schemas.microsoft.com/office/drawing/2014/main" id="{DBFE4847-F8C7-6777-C62D-22C22990B0F3}"/>
              </a:ext>
            </a:extLst>
          </p:cNvPr>
          <p:cNvCxnSpPr/>
          <p:nvPr/>
        </p:nvCxnSpPr>
        <p:spPr>
          <a:xfrm>
            <a:off x="934065" y="1514168"/>
            <a:ext cx="10038735"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24700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9E174-3333-B239-04D3-CEF79D01A10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Future Course of Action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2EAC64D-80E5-1A63-BBC8-208AC2920511}"/>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Resume-based interview personalization</a:t>
            </a:r>
          </a:p>
          <a:p>
            <a:r>
              <a:rPr lang="en-US" dirty="0">
                <a:latin typeface="Times New Roman" panose="02020603050405020304" pitchFamily="18" charset="0"/>
                <a:cs typeface="Times New Roman" panose="02020603050405020304" pitchFamily="18" charset="0"/>
              </a:rPr>
              <a:t>Voice-based mock interviews</a:t>
            </a:r>
          </a:p>
          <a:p>
            <a:r>
              <a:rPr lang="en-US" dirty="0">
                <a:latin typeface="Times New Roman" panose="02020603050405020304" pitchFamily="18" charset="0"/>
                <a:cs typeface="Times New Roman" panose="02020603050405020304" pitchFamily="18" charset="0"/>
              </a:rPr>
              <a:t>Company-specific interview preparation</a:t>
            </a:r>
          </a:p>
          <a:p>
            <a:r>
              <a:rPr lang="en-US" dirty="0">
                <a:latin typeface="Times New Roman" panose="02020603050405020304" pitchFamily="18" charset="0"/>
                <a:cs typeface="Times New Roman" panose="02020603050405020304" pitchFamily="18" charset="0"/>
              </a:rPr>
              <a:t>Real-time emotion and confidence analysis</a:t>
            </a:r>
          </a:p>
          <a:p>
            <a:r>
              <a:rPr lang="en-US" dirty="0">
                <a:latin typeface="Times New Roman" panose="02020603050405020304" pitchFamily="18" charset="0"/>
                <a:cs typeface="Times New Roman" panose="02020603050405020304" pitchFamily="18" charset="0"/>
              </a:rPr>
              <a:t>Integration with placement portals</a:t>
            </a:r>
          </a:p>
          <a:p>
            <a:r>
              <a:rPr lang="en-US" dirty="0">
                <a:latin typeface="Times New Roman" panose="02020603050405020304" pitchFamily="18" charset="0"/>
                <a:cs typeface="Times New Roman" panose="02020603050405020304" pitchFamily="18" charset="0"/>
              </a:rPr>
              <a:t>Detailed analytics and progress tracking</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3DB3E6F-AA44-99D7-F4A8-8ACBD838A436}"/>
              </a:ext>
            </a:extLst>
          </p:cNvPr>
          <p:cNvSpPr>
            <a:spLocks noGrp="1"/>
          </p:cNvSpPr>
          <p:nvPr>
            <p:ph type="sldNum" sz="quarter" idx="12"/>
          </p:nvPr>
        </p:nvSpPr>
        <p:spPr/>
        <p:txBody>
          <a:bodyPr/>
          <a:lstStyle/>
          <a:p>
            <a:fld id="{519954A3-9DFD-4C44-94BA-B95130A3BA1C}" type="slidenum">
              <a:rPr lang="en-US" smtClean="0"/>
              <a:t>17</a:t>
            </a:fld>
            <a:endParaRPr lang="en-US" dirty="0"/>
          </a:p>
        </p:txBody>
      </p:sp>
      <p:cxnSp>
        <p:nvCxnSpPr>
          <p:cNvPr id="6" name="Straight Connector 5">
            <a:extLst>
              <a:ext uri="{FF2B5EF4-FFF2-40B4-BE49-F238E27FC236}">
                <a16:creationId xmlns:a16="http://schemas.microsoft.com/office/drawing/2014/main" id="{ED2BE890-70F8-0F6A-7B32-734C5D816DAA}"/>
              </a:ext>
            </a:extLst>
          </p:cNvPr>
          <p:cNvCxnSpPr/>
          <p:nvPr/>
        </p:nvCxnSpPr>
        <p:spPr>
          <a:xfrm>
            <a:off x="838200" y="1602658"/>
            <a:ext cx="10360742"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31958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039527-B2AD-800A-DEF0-C6ED35DFD1B9}"/>
              </a:ext>
            </a:extLst>
          </p:cNvPr>
          <p:cNvSpPr>
            <a:spLocks noGrp="1"/>
          </p:cNvSpPr>
          <p:nvPr>
            <p:ph idx="1"/>
          </p:nvPr>
        </p:nvSpPr>
        <p:spPr>
          <a:xfrm>
            <a:off x="838200" y="2410087"/>
            <a:ext cx="10515600" cy="1294647"/>
          </a:xfrm>
        </p:spPr>
        <p:txBody>
          <a:bodyPr anchor="ctr">
            <a:normAutofit/>
          </a:bodyPr>
          <a:lstStyle/>
          <a:p>
            <a:pPr marL="0" indent="0" algn="ctr">
              <a:buNone/>
            </a:pPr>
            <a:r>
              <a:rPr lang="en-GB" sz="6600" b="1" dirty="0">
                <a:latin typeface="Times New Roman" panose="02020603050405020304" pitchFamily="18" charset="0"/>
                <a:cs typeface="Times New Roman" panose="02020603050405020304" pitchFamily="18" charset="0"/>
              </a:rPr>
              <a:t>THANK YOU</a:t>
            </a:r>
            <a:endParaRPr lang="en-IN" sz="6600"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518AA397-C321-1FCB-0E71-AA9F563268CA}"/>
              </a:ext>
            </a:extLst>
          </p:cNvPr>
          <p:cNvSpPr>
            <a:spLocks noGrp="1"/>
          </p:cNvSpPr>
          <p:nvPr>
            <p:ph type="sldNum" sz="quarter" idx="12"/>
          </p:nvPr>
        </p:nvSpPr>
        <p:spPr/>
        <p:txBody>
          <a:bodyPr/>
          <a:lstStyle/>
          <a:p>
            <a:r>
              <a:rPr lang="en-US" dirty="0">
                <a:solidFill>
                  <a:schemeClr val="bg1"/>
                </a:solidFill>
              </a:rPr>
              <a:t>19</a:t>
            </a:r>
          </a:p>
        </p:txBody>
      </p:sp>
    </p:spTree>
    <p:extLst>
      <p:ext uri="{BB962C8B-B14F-4D97-AF65-F5344CB8AC3E}">
        <p14:creationId xmlns:p14="http://schemas.microsoft.com/office/powerpoint/2010/main" val="3272382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A85F961-5B81-4B56-9CB3-A56E51154BB6}">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5012</TotalTime>
  <Words>709</Words>
  <Application>Microsoft Office PowerPoint</Application>
  <PresentationFormat>Widescreen</PresentationFormat>
  <Paragraphs>107</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Arial</vt:lpstr>
      <vt:lpstr>Calibri</vt:lpstr>
      <vt:lpstr>Calibri Light</vt:lpstr>
      <vt:lpstr>CG omega</vt:lpstr>
      <vt:lpstr>Times New Roman</vt:lpstr>
      <vt:lpstr>Office Theme</vt:lpstr>
      <vt:lpstr>AI-INTERVIEW PREPARATION COACH</vt:lpstr>
      <vt:lpstr>Agenda of the IOMP Presentation</vt:lpstr>
      <vt:lpstr>Abstract</vt:lpstr>
      <vt:lpstr>Introduction</vt:lpstr>
      <vt:lpstr>Literature Review</vt:lpstr>
      <vt:lpstr>Problem Statement</vt:lpstr>
      <vt:lpstr>Objectives</vt:lpstr>
      <vt:lpstr>Functional Requirements</vt:lpstr>
      <vt:lpstr>Non-Functional Requirements</vt:lpstr>
      <vt:lpstr>Hardware Requirements</vt:lpstr>
      <vt:lpstr>Software Requirements</vt:lpstr>
      <vt:lpstr>Proposed Methodology</vt:lpstr>
      <vt:lpstr>System Architecture</vt:lpstr>
      <vt:lpstr>Class Diagram</vt:lpstr>
      <vt:lpstr>Sequence Diagram </vt:lpstr>
      <vt:lpstr>Activity Diagram</vt:lpstr>
      <vt:lpstr>Future Course of Action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IOMP TITLE</dc:title>
  <dc:creator>C ARYAN</dc:creator>
  <cp:lastModifiedBy>NALLAN RAGHUNANDAN</cp:lastModifiedBy>
  <cp:revision>74</cp:revision>
  <dcterms:created xsi:type="dcterms:W3CDTF">2024-08-02T07:32:03Z</dcterms:created>
  <dcterms:modified xsi:type="dcterms:W3CDTF">2026-01-28T00:32:50Z</dcterms:modified>
</cp:coreProperties>
</file>